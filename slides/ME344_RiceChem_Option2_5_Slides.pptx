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79ac50f9e84ace" /><Relationship Type="http://schemas.openxmlformats.org/officeDocument/2006/relationships/extended-properties" Target="/docProps/app.xml" Id="Rc8729302ac54477c" /><Relationship Type="http://schemas.openxmlformats.org/officeDocument/2006/relationships/officeDocument" Target="/ppt/presentation.xml" Id="R5b03d549496d4026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a506ace8bb94740"/>
  </p:sldMasterIdLst>
  <p:notesMasterIdLst>
    <p:notesMasterId xmlns:r="http://schemas.openxmlformats.org/officeDocument/2006/relationships" r:id="Re5ce2e6f8ecc45e3"/>
  </p:notesMasterIdLst>
  <p:sldIdLst>
    <p:sldId xmlns:r="http://schemas.openxmlformats.org/officeDocument/2006/relationships" id="256" r:id="R2656de1536bc47c8"/>
    <p:sldId xmlns:r="http://schemas.openxmlformats.org/officeDocument/2006/relationships" id="257" r:id="R346992d8350749c0"/>
    <p:sldId xmlns:r="http://schemas.openxmlformats.org/officeDocument/2006/relationships" id="258" r:id="Rdcf0e3cae93b455d"/>
    <p:sldId xmlns:r="http://schemas.openxmlformats.org/officeDocument/2006/relationships" id="259" r:id="Rd3dff6e667974f84"/>
    <p:sldId xmlns:r="http://schemas.openxmlformats.org/officeDocument/2006/relationships" id="260" r:id="Ra3683426d8044ded"/>
  </p:sldIdLst>
  <p:sldSz cx="9144000" cy="5143500"/>
  <p:notesSz cx="6858000" cy="9144000"/>
  <p:embeddedFontLst>
    <p:embeddedFont>
      <p:font typeface="Manrope"/>
      <p:regular xmlns:r="http://schemas.openxmlformats.org/officeDocument/2006/relationships" r:id="R7ef6890aedd24baa"/>
      <p:bold xmlns:r="http://schemas.openxmlformats.org/officeDocument/2006/relationships" r:id="Rf4e7507bf91e4de6"/>
    </p:embeddedFont>
    <p:embeddedFont>
      <p:font typeface="DM Sans Light"/>
      <p:regular xmlns:r="http://schemas.openxmlformats.org/officeDocument/2006/relationships" r:id="Rec8dc9619166446d"/>
      <p:bold xmlns:r="http://schemas.openxmlformats.org/officeDocument/2006/relationships" r:id="R1872b2bf2b2846a8"/>
      <p:italic xmlns:r="http://schemas.openxmlformats.org/officeDocument/2006/relationships" r:id="R1abb1f74746446c7"/>
      <p:boldItalic xmlns:r="http://schemas.openxmlformats.org/officeDocument/2006/relationships" r:id="R13528ba31cfe4cff"/>
    </p:embeddedFont>
    <p:embeddedFont>
      <p:font typeface="DM Sans"/>
      <p:regular xmlns:r="http://schemas.openxmlformats.org/officeDocument/2006/relationships" r:id="Rddf07def99d245c8"/>
      <p:bold xmlns:r="http://schemas.openxmlformats.org/officeDocument/2006/relationships" r:id="R822cac73db644f47"/>
      <p:italic xmlns:r="http://schemas.openxmlformats.org/officeDocument/2006/relationships" r:id="R4daa8f5506cf478d"/>
      <p:boldItalic xmlns:r="http://schemas.openxmlformats.org/officeDocument/2006/relationships" r:id="R171902e525344b2f"/>
    </p:embeddedFont>
    <p:embeddedFont>
      <p:font typeface="Forum"/>
      <p:regular xmlns:r="http://schemas.openxmlformats.org/officeDocument/2006/relationships" r:id="R6853e489890f42fe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8cd231883046ed" /><Relationship Type="http://schemas.openxmlformats.org/officeDocument/2006/relationships/slideMaster" Target="/ppt/slideMasters/slideMaster1.xml" Id="R6a506ace8bb94740" /><Relationship Type="http://schemas.openxmlformats.org/officeDocument/2006/relationships/notesMaster" Target="/ppt/notesMasters/notesMaster1.xml" Id="Re5ce2e6f8ecc45e3" /><Relationship Type="http://schemas.openxmlformats.org/officeDocument/2006/relationships/presProps" Target="/ppt/presProps.xml" Id="R85fcecb7ea3b4237" /><Relationship Type="http://schemas.openxmlformats.org/officeDocument/2006/relationships/viewProps" Target="/ppt/viewProps.xml" Id="R22c8cadf80ed41c8" /><Relationship Type="http://schemas.openxmlformats.org/officeDocument/2006/relationships/tableStyles" Target="/ppt/tableStyles.xml" Id="R0ab620e82f814e66" /><Relationship Type="http://schemas.openxmlformats.org/officeDocument/2006/relationships/font" Target="/ppt/fonts/font.dat" Id="R7ef6890aedd24baa" /><Relationship Type="http://schemas.openxmlformats.org/officeDocument/2006/relationships/font" Target="/ppt/fonts/font2.dat" Id="Rf4e7507bf91e4de6" /><Relationship Type="http://schemas.openxmlformats.org/officeDocument/2006/relationships/font" Target="/ppt/fonts/font3.dat" Id="Rec8dc9619166446d" /><Relationship Type="http://schemas.openxmlformats.org/officeDocument/2006/relationships/font" Target="/ppt/fonts/font4.dat" Id="R1872b2bf2b2846a8" /><Relationship Type="http://schemas.openxmlformats.org/officeDocument/2006/relationships/font" Target="/ppt/fonts/font5.dat" Id="R1abb1f74746446c7" /><Relationship Type="http://schemas.openxmlformats.org/officeDocument/2006/relationships/font" Target="/ppt/fonts/font6.dat" Id="R13528ba31cfe4cff" /><Relationship Type="http://schemas.openxmlformats.org/officeDocument/2006/relationships/font" Target="/ppt/fonts/font7.dat" Id="Rddf07def99d245c8" /><Relationship Type="http://schemas.openxmlformats.org/officeDocument/2006/relationships/font" Target="/ppt/fonts/font8.dat" Id="R822cac73db644f47" /><Relationship Type="http://schemas.openxmlformats.org/officeDocument/2006/relationships/font" Target="/ppt/fonts/font9.dat" Id="R4daa8f5506cf478d" /><Relationship Type="http://schemas.openxmlformats.org/officeDocument/2006/relationships/font" Target="/ppt/fonts/font10.dat" Id="R171902e525344b2f" /><Relationship Type="http://schemas.openxmlformats.org/officeDocument/2006/relationships/font" Target="/ppt/fonts/font11.dat" Id="R6853e489890f42fe" /><Relationship Type="http://schemas.openxmlformats.org/officeDocument/2006/relationships/slide" Target="/ppt/slides/slide1.xml" Id="R2656de1536bc47c8" /><Relationship Type="http://schemas.openxmlformats.org/officeDocument/2006/relationships/slide" Target="/ppt/slides/slide2.xml" Id="R346992d8350749c0" /><Relationship Type="http://schemas.openxmlformats.org/officeDocument/2006/relationships/slide" Target="/ppt/slides/slide3.xml" Id="Rdcf0e3cae93b455d" /><Relationship Type="http://schemas.openxmlformats.org/officeDocument/2006/relationships/slide" Target="/ppt/slides/slide4.xml" Id="Rd3dff6e667974f84" /><Relationship Type="http://schemas.openxmlformats.org/officeDocument/2006/relationships/slide" Target="/ppt/slides/slide5.xml" Id="Ra3683426d8044d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8c130629c143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011499882843c0" /><Relationship Type="http://schemas.openxmlformats.org/officeDocument/2006/relationships/notesMaster" Target="/ppt/notesMasters/notesMaster1.xml" Id="R28484a1426204e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2ace8855214e90" /><Relationship Type="http://schemas.openxmlformats.org/officeDocument/2006/relationships/notesMaster" Target="/ppt/notesMasters/notesMaster1.xml" Id="Re079c63f22e846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355847b4ba49ce" /><Relationship Type="http://schemas.openxmlformats.org/officeDocument/2006/relationships/notesMaster" Target="/ppt/notesMasters/notesMaster1.xml" Id="Rc30ba0170ab043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84dcf8b6ec4fb5" /><Relationship Type="http://schemas.openxmlformats.org/officeDocument/2006/relationships/notesMaster" Target="/ppt/notesMasters/notesMaster1.xml" Id="Ree8a4aae7b0d47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8a6e091b564871" /><Relationship Type="http://schemas.openxmlformats.org/officeDocument/2006/relationships/notesMaster" Target="/ppt/notesMasters/notesMaster1.xml" Id="R638fd16bf59648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7-of-8-hour figure is Sean's measured TA workday and is presented as personal operational evidence, not a population estimate.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proposal is AI first pass plus human review of exceptions; humans remain accountable for consequential judgments.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RiceChem source: https://arxiv.org/abs/2404.14316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Autorubric: https://arxiv.org/abs/2603.00077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When Can We Trust LLM Graders?: https://arxiv.org/abs/2603.29559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Photo: Treemarks LinkedIn post, Sean Yépez with Dr. Mourad Bouache at Google, August 2026.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 https://arxiv.org/abs/2404.14316 | https://arxiv.org/abs/2603.00077 | https://arxiv.org/abs/2603.29559 | https://www.linkedin.com/company/treemarks/posts/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is the actual ME344 experiment architecture, not the broader Treemarks product architecture.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QLoRA means the 27B base model is loaded in a compact 4-bit representation while small low-rank adapter weights are trained; the base weights remain frozen.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On TPU, JAX/XLA compiles the numerical train/serve step for the v5e-8 runtime. The completed 27B tuning path used A100/CUDA; 27B TPU remains future work.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RiceChem follows an 80/10/10 split by question with responses kept disjoint across train, validation, and test.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 https://arxiv.org/abs/2404.14316 | https://github.com/seanyepez/me344ricechem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HBM is high-bandwidth memory: the accelerator-local memory used by TPU devices, analogous to GPU VRAM.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telemetry sidecars sampled CPU/host metrics about every 20–30 seconds; the A100 run included coarse NVML utilization and VRAM samples.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TPU host CPU and memory were captured, but no TPU-device profiler was enabled. This is a measurement-pipeline gap, not an assertion that TPU devices cannot expose utilization or HBM.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public aggregate receipt intentionally leaves missing data blank and lists the incomplete provenance fields.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 https://github.com/seanyepez/me344ricechem/blob/main/docs/methodology.md | https://github.com/seanyepez/me344ricechem/blob/main/results/hardware_comparison.json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Speedups are normalized to the completed single-stream CPU lane: A100 8.54/0.28 = 30.5x; TPU 11.39/0.28 = 40.7x.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Concurrency 24 changed the serving economics: A100 reached 123.87 decisions/s and TPU 98.41 decisions/s on one endpoint.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Horizontal scaling is a separate claim: more GKE runners or endpoints can add capacity, but not infinitely. Quotas, queue depth, synchronization, load balancing, and shared storage create overhead and practical limits.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same 4B checkpoint family remained around 72% agreement, so this systems comparison does not establish deployment-ready grading quality.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 https://github.com/seanyepez/me344ricechem/blob/main/results/hardware_comparison.json | https://github.com/seanyepez/me344ricechem/blob/main/results/cost_basis.json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conclusion is promise, not final deployment readiness: 27B fine-tuning is competitive with frontier inference on same-booklet held-out data, while the 4B model is below the practical quality bar.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operating strategy is quality first, then turnaround, then cost. A single endpoint is enough if it meets the queue deadline; add runners only as enrollment or assignment volume requires.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Within 24 hours is the operational requirement; within 8 hours would materially shorten the student feedback loop while the work is still fresh.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Future transfer work should hold out an entire chemistry question during training to test whether the tuned grader transfers to fresh assessment content.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27B TPU serving remains future work unless a completed, validated receipt lands before the final submission pass.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 https://github.com/seanyepez/me344ricechem/blob/main/README.md | https://github.com/seanyepez/me344ricechem/blob/main/results/results_report.json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9d223f43c346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f3ab15fb4541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ae54ae51cf4a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66c8d23959415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a1abca4639426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38dc2475c2432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56373c116e433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3b502700864be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5c729d1de745d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4bb3bc2766485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ec33bbfb2647c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a1bc56b02247d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d079f554754ab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a9a61e2a35404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caf1d65fb442ea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01e4ce89be4fb8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B5C55B14-4DFD-46E5-ABF9-668986B8FB8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91396120-E4BB-4EC9-842B-2BEB94E04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126D56EB-65E1-48AA-A040-3AA5FF91D4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57EEDB8C-8315-453D-9937-063A037294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A99AEADF-235F-4D8B-825E-167EA6ACF1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0B29FE4A-7234-4B64-B462-8EA641F0DD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74044BFC-0D9F-4547-ABDA-A9F24E831D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967D6FAC-2CE3-4D64-BC23-15CB79AB6A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40E146D1-3053-45E9-9297-AB30400972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4F4A6D5B-63A6-4D0D-BA71-EC59477133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3E93AA07-73F5-463B-AE4D-7807DAE0D1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31D8598B-7807-47B7-80ED-8D064F9285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C9F6648D-A67C-4CA5-92B8-39FC7C6401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3CA7CC9B-B146-4696-89DA-2503D7564B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8270D4E6-E492-4690-B2D4-2F848BB5A3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2F6F3904-860D-4881-9C60-39E9028661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0037DC73-6BB1-4043-8D09-18A444DE91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2D3CF465-C591-497F-9C1E-E155967691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C8B7BA1E-8298-4748-B8EC-A3CEB91131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1930E652-EC7B-4489-BC11-116B1D61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3A7FB53C-D953-4568-B802-6528E0F7EC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E5C6047D-C7AA-45F7-9B78-645BE88EE8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5F9ECDC9-150D-41F1-B945-F779897081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18B20FB2-12C6-41B1-8F51-EC1E47BD6C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FCCCD4A7-C03F-41AD-AB01-375A816CAE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97ECF30A-8D81-487E-B27B-1D4012CFDC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433644C7-3393-4CAA-AF0D-A85C9B0DA1A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A5FBC054-3EC6-4D9B-BD5D-3BEE048102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CECAAA43-EDA5-46AB-A866-1728BF8BFF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A6D78C6C-F836-4F39-95CC-40A335F5B4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matchingName="Three columns">
  <p:cSld name="BLANK_1_1_1_1_1_1_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Google Shape;52;p14">
            <a:extLst xmlns:a="http://schemas.openxmlformats.org/drawingml/2006/main">
              <a:ext uri="{FF2B5EF4-FFF2-40B4-BE49-F238E27FC236}">
                <a16:creationId xmlns:a16="http://schemas.microsoft.com/office/drawing/2014/main" id="{F29A34A6-E0E8-4934-976C-4A2BFF0AB7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" y="4891059"/>
            <a:ext cx="1475700" cy="12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/>
        </p:txBody>
      </p:sp>
      <p:sp>
        <p:nvSpPr>
          <p:cNvPr id="53" name="Google Shape;53;p14">
            <a:extLst xmlns:a="http://schemas.openxmlformats.org/drawingml/2006/main">
              <a:ext uri="{FF2B5EF4-FFF2-40B4-BE49-F238E27FC236}">
                <a16:creationId xmlns:a16="http://schemas.microsoft.com/office/drawing/2014/main" id="{57D89ED9-BCB0-4DE8-963F-DB1E455EFE27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28675" y="2704139"/>
            <a:ext cx="28347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</a:defRPr>
            </a:lvl1pPr>
            <a:lvl2pPr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/>
        </p:txBody>
      </p:sp>
      <p:sp>
        <p:nvSpPr>
          <p:cNvPr id="54" name="Google Shape;54;p14">
            <a:extLst xmlns:a="http://schemas.openxmlformats.org/drawingml/2006/main">
              <a:ext uri="{FF2B5EF4-FFF2-40B4-BE49-F238E27FC236}">
                <a16:creationId xmlns:a16="http://schemas.microsoft.com/office/drawing/2014/main" id="{9732C93C-E9FD-49FC-B6ED-565E0C55D8E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61025" y="3339980"/>
            <a:ext cx="1770000" cy="87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0" rIns="91425" bIns="91425" anchor="t">
            <a:normAutofit/>
          </a:bodyPr>
          <a:lstStyle xmlns:a="http://schemas.openxmlformats.org/drawingml/2006/main">
            <a:lvl1pPr marL="45720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914400" indent="-292100" algn="ctr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marL="13716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marL="18288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marL="22860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marL="27432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marL="32004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marL="36576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marL="41148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5" name="Google Shape;55;p14">
            <a:extLst xmlns:a="http://schemas.openxmlformats.org/drawingml/2006/main">
              <a:ext uri="{FF2B5EF4-FFF2-40B4-BE49-F238E27FC236}">
                <a16:creationId xmlns:a16="http://schemas.microsoft.com/office/drawing/2014/main" id="{A33AB705-D820-4784-8D61-11DEC7E8BCFB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3154650" y="2704139"/>
            <a:ext cx="28347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</a:defRPr>
            </a:lvl1pPr>
            <a:lvl2pPr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/>
        </p:txBody>
      </p:sp>
      <p:sp>
        <p:nvSpPr>
          <p:cNvPr id="56" name="Google Shape;56;p14">
            <a:extLst xmlns:a="http://schemas.openxmlformats.org/drawingml/2006/main">
              <a:ext uri="{FF2B5EF4-FFF2-40B4-BE49-F238E27FC236}">
                <a16:creationId xmlns:a16="http://schemas.microsoft.com/office/drawing/2014/main" id="{23EF7ADE-786B-462A-8CC7-19391CDBE933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3687000" y="3339980"/>
            <a:ext cx="1770000" cy="87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0" rIns="91425" bIns="91425" anchor="t">
            <a:normAutofit/>
          </a:bodyPr>
          <a:lstStyle xmlns:a="http://schemas.openxmlformats.org/drawingml/2006/main">
            <a:lvl1pPr marL="45720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914400" indent="-292100" algn="ctr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marL="13716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marL="18288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marL="22860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marL="27432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marL="32004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marL="36576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marL="41148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7" name="Google Shape;57;p14">
            <a:extLst xmlns:a="http://schemas.openxmlformats.org/drawingml/2006/main">
              <a:ext uri="{FF2B5EF4-FFF2-40B4-BE49-F238E27FC236}">
                <a16:creationId xmlns:a16="http://schemas.microsoft.com/office/drawing/2014/main" id="{30913D5F-FC88-4937-BED4-0F40C2FD6A77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6080625" y="2704139"/>
            <a:ext cx="28347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</a:defRPr>
            </a:lvl1pPr>
            <a:lvl2pPr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/>
        </p:txBody>
      </p:sp>
      <p:sp>
        <p:nvSpPr>
          <p:cNvPr id="58" name="Google Shape;58;p14">
            <a:extLst xmlns:a="http://schemas.openxmlformats.org/drawingml/2006/main">
              <a:ext uri="{FF2B5EF4-FFF2-40B4-BE49-F238E27FC236}">
                <a16:creationId xmlns:a16="http://schemas.microsoft.com/office/drawing/2014/main" id="{C7440A97-66BC-4A3C-9099-0FB8CD6782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600" y="399325"/>
            <a:ext cx="8686800" cy="62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t">
            <a:normAutofit/>
          </a:bodyPr>
          <a:lstStyle xmlns:a="http://schemas.openxmlformats.org/drawingml/2006/main">
            <a:lvl1pPr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</a:defRPr>
            </a:lvl2pPr>
            <a:lvl3pPr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</a:defRPr>
            </a:lvl3pPr>
            <a:lvl4pPr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</a:defRPr>
            </a:lvl4pPr>
            <a:lvl5pPr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</a:defRPr>
            </a:lvl5pPr>
            <a:lvl6pPr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</a:defRPr>
            </a:lvl6pPr>
            <a:lvl7pPr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</a:defRPr>
            </a:lvl7pPr>
            <a:lvl8pPr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</a:defRPr>
            </a:lvl8pPr>
            <a:lvl9pPr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</a:defRPr>
            </a:lvl9pPr>
          </a:lstStyle>
          <a:p xmlns:a="http://schemas.openxmlformats.org/drawingml/2006/main"/>
        </p:txBody>
      </p:sp>
      <p:sp>
        <p:nvSpPr>
          <p:cNvPr id="59" name="Google Shape;59;p14">
            <a:extLst xmlns:a="http://schemas.openxmlformats.org/drawingml/2006/main">
              <a:ext uri="{FF2B5EF4-FFF2-40B4-BE49-F238E27FC236}">
                <a16:creationId xmlns:a16="http://schemas.microsoft.com/office/drawing/2014/main" id="{BE16BAC1-D548-4128-A4C0-CF6BFA2BC9B8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612975" y="3339965"/>
            <a:ext cx="1770000" cy="255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0" rIns="91425" bIns="91425" anchor="t">
            <a:normAutofit/>
          </a:bodyPr>
          <a:lstStyle xmlns:a="http://schemas.openxmlformats.org/drawingml/2006/main">
            <a:lvl1pPr marL="45720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914400" indent="-292100" algn="ctr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marL="13716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marL="18288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marL="22860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marL="27432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marL="32004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marL="36576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marL="41148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0" name="Google Shape;60;p14">
            <a:extLst xmlns:a="http://schemas.openxmlformats.org/drawingml/2006/main">
              <a:ext uri="{FF2B5EF4-FFF2-40B4-BE49-F238E27FC236}">
                <a16:creationId xmlns:a16="http://schemas.microsoft.com/office/drawing/2014/main" id="{84D6E6F9-2C33-4552-8B0A-FF322F396D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Three columns 1">
  <p:cSld name="BLANK_1_1_1_1_1_1_2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15">
            <a:extLst xmlns:a="http://schemas.openxmlformats.org/drawingml/2006/main">
              <a:ext uri="{FF2B5EF4-FFF2-40B4-BE49-F238E27FC236}">
                <a16:creationId xmlns:a16="http://schemas.microsoft.com/office/drawing/2014/main" id="{3B6FA5DC-DD35-418E-90AE-20F1BA98587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" y="4891059"/>
            <a:ext cx="1475700" cy="12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/>
        </p:txBody>
      </p:sp>
      <p:sp>
        <p:nvSpPr>
          <p:cNvPr id="63" name="Google Shape;63;p15">
            <a:extLst xmlns:a="http://schemas.openxmlformats.org/drawingml/2006/main">
              <a:ext uri="{FF2B5EF4-FFF2-40B4-BE49-F238E27FC236}">
                <a16:creationId xmlns:a16="http://schemas.microsoft.com/office/drawing/2014/main" id="{18C0382B-23BD-43DD-B23C-0D451AD580F5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28675" y="2704139"/>
            <a:ext cx="28347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</a:defRPr>
            </a:lvl1pPr>
            <a:lvl2pPr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/>
        </p:txBody>
      </p:sp>
      <p:sp>
        <p:nvSpPr>
          <p:cNvPr id="64" name="Google Shape;64;p15">
            <a:extLst xmlns:a="http://schemas.openxmlformats.org/drawingml/2006/main">
              <a:ext uri="{FF2B5EF4-FFF2-40B4-BE49-F238E27FC236}">
                <a16:creationId xmlns:a16="http://schemas.microsoft.com/office/drawing/2014/main" id="{C92AC40F-2631-4AAE-9650-B7822E50EEF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61025" y="3339980"/>
            <a:ext cx="1770000" cy="87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0" rIns="91425" bIns="91425" anchor="t">
            <a:normAutofit/>
          </a:bodyPr>
          <a:lstStyle xmlns:a="http://schemas.openxmlformats.org/drawingml/2006/main">
            <a:lvl1pPr marL="45720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914400" indent="-292100" algn="ctr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marL="13716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marL="18288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marL="22860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marL="27432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marL="32004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marL="36576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marL="41148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5" name="Google Shape;65;p15">
            <a:extLst xmlns:a="http://schemas.openxmlformats.org/drawingml/2006/main">
              <a:ext uri="{FF2B5EF4-FFF2-40B4-BE49-F238E27FC236}">
                <a16:creationId xmlns:a16="http://schemas.microsoft.com/office/drawing/2014/main" id="{6633D2E7-1E19-4A23-9B73-1FBBB85FCB99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3154650" y="2704139"/>
            <a:ext cx="28347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</a:defRPr>
            </a:lvl1pPr>
            <a:lvl2pPr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/>
        </p:txBody>
      </p:sp>
      <p:sp>
        <p:nvSpPr>
          <p:cNvPr id="66" name="Google Shape;66;p15">
            <a:extLst xmlns:a="http://schemas.openxmlformats.org/drawingml/2006/main">
              <a:ext uri="{FF2B5EF4-FFF2-40B4-BE49-F238E27FC236}">
                <a16:creationId xmlns:a16="http://schemas.microsoft.com/office/drawing/2014/main" id="{D3280021-77B5-4574-87BD-0B5A507FF0D1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3687000" y="3339980"/>
            <a:ext cx="1770000" cy="87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0" rIns="91425" bIns="91425" anchor="t">
            <a:normAutofit/>
          </a:bodyPr>
          <a:lstStyle xmlns:a="http://schemas.openxmlformats.org/drawingml/2006/main">
            <a:lvl1pPr marL="45720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914400" indent="-292100" algn="ctr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marL="13716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marL="18288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marL="22860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marL="27432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marL="32004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marL="36576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marL="41148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7" name="Google Shape;67;p15">
            <a:extLst xmlns:a="http://schemas.openxmlformats.org/drawingml/2006/main">
              <a:ext uri="{FF2B5EF4-FFF2-40B4-BE49-F238E27FC236}">
                <a16:creationId xmlns:a16="http://schemas.microsoft.com/office/drawing/2014/main" id="{ECF3DF2B-1DB6-45FB-A5EA-7FEBD3BB673D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6080625" y="2704139"/>
            <a:ext cx="28347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</a:defRPr>
            </a:lvl1pPr>
            <a:lvl2pPr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/>
        </p:txBody>
      </p:sp>
      <p:sp>
        <p:nvSpPr>
          <p:cNvPr id="68" name="Google Shape;68;p15">
            <a:extLst xmlns:a="http://schemas.openxmlformats.org/drawingml/2006/main">
              <a:ext uri="{FF2B5EF4-FFF2-40B4-BE49-F238E27FC236}">
                <a16:creationId xmlns:a16="http://schemas.microsoft.com/office/drawing/2014/main" id="{808FF4DC-6F3D-4154-8073-C926B15C0A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600" y="399325"/>
            <a:ext cx="8686800" cy="62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t">
            <a:normAutofit/>
          </a:bodyPr>
          <a:lstStyle xmlns:a="http://schemas.openxmlformats.org/drawingml/2006/main">
            <a:lvl1pPr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</a:defRPr>
            </a:lvl2pPr>
            <a:lvl3pPr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</a:defRPr>
            </a:lvl3pPr>
            <a:lvl4pPr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</a:defRPr>
            </a:lvl4pPr>
            <a:lvl5pPr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</a:defRPr>
            </a:lvl5pPr>
            <a:lvl6pPr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</a:defRPr>
            </a:lvl6pPr>
            <a:lvl7pPr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</a:defRPr>
            </a:lvl7pPr>
            <a:lvl8pPr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</a:defRPr>
            </a:lvl8pPr>
            <a:lvl9pPr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</a:defRPr>
            </a:lvl9pPr>
          </a:lstStyle>
          <a:p xmlns:a="http://schemas.openxmlformats.org/drawingml/2006/main"/>
        </p:txBody>
      </p:sp>
      <p:sp>
        <p:nvSpPr>
          <p:cNvPr id="69" name="Google Shape;69;p15">
            <a:extLst xmlns:a="http://schemas.openxmlformats.org/drawingml/2006/main">
              <a:ext uri="{FF2B5EF4-FFF2-40B4-BE49-F238E27FC236}">
                <a16:creationId xmlns:a16="http://schemas.microsoft.com/office/drawing/2014/main" id="{0CC05DA9-7539-443C-BF83-180D529D8415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612975" y="3339965"/>
            <a:ext cx="1770000" cy="255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0" rIns="91425" bIns="91425" anchor="t">
            <a:normAutofit/>
          </a:bodyPr>
          <a:lstStyle xmlns:a="http://schemas.openxmlformats.org/drawingml/2006/main">
            <a:lvl1pPr marL="45720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914400" indent="-292100" algn="ctr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marL="13716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marL="18288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marL="22860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marL="27432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marL="32004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marL="36576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marL="411480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2FD2824B-F6D0-410F-B6DA-8421DACA18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Cover 1">
  <p:cSld name="BLANK_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Google Shape;72;p16">
            <a:extLst xmlns:a="http://schemas.openxmlformats.org/drawingml/2006/main">
              <a:ext uri="{FF2B5EF4-FFF2-40B4-BE49-F238E27FC236}">
                <a16:creationId xmlns:a16="http://schemas.microsoft.com/office/drawing/2014/main" id="{28F9FFC9-4FD3-43A6-938D-E0E6719142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600" y="457200"/>
            <a:ext cx="8686800" cy="228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0" anchor="t">
            <a:normAutofit/>
          </a:bodyPr>
          <a:lstStyle xmlns:a="http://schemas.openxmlformats.org/drawingml/2006/main">
            <a:lvl1pPr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2pPr>
            <a:lvl3pPr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3pPr>
            <a:lvl4pPr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4pPr>
            <a:lvl5pPr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5pPr>
            <a:lvl6pPr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6pPr>
            <a:lvl7pPr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7pPr>
            <a:lvl8pPr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8pPr>
            <a:lvl9pPr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9pPr>
          </a:lstStyle>
          <a:p xmlns:a="http://schemas.openxmlformats.org/drawingml/2006/main"/>
        </p:txBody>
      </p:sp>
      <p:sp>
        <p:nvSpPr>
          <p:cNvPr id="73" name="Google Shape;73;p16">
            <a:extLst xmlns:a="http://schemas.openxmlformats.org/drawingml/2006/main">
              <a:ext uri="{FF2B5EF4-FFF2-40B4-BE49-F238E27FC236}">
                <a16:creationId xmlns:a16="http://schemas.microsoft.com/office/drawing/2014/main" id="{929F0598-F62D-4A08-A421-41BA420A89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" y="4891059"/>
            <a:ext cx="1475700" cy="12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/>
        </p:txBody>
      </p:sp>
      <p:sp>
        <p:nvSpPr>
          <p:cNvPr id="74" name="Google Shape;74;p16">
            <a:extLst xmlns:a="http://schemas.openxmlformats.org/drawingml/2006/main">
              <a:ext uri="{FF2B5EF4-FFF2-40B4-BE49-F238E27FC236}">
                <a16:creationId xmlns:a16="http://schemas.microsoft.com/office/drawing/2014/main" id="{011F7123-0867-4D44-88AB-12DED0E6EFB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228575" y="3005550"/>
            <a:ext cx="1636200" cy="774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5" name="Google Shape;75;p16">
            <a:extLst xmlns:a="http://schemas.openxmlformats.org/drawingml/2006/main">
              <a:ext uri="{FF2B5EF4-FFF2-40B4-BE49-F238E27FC236}">
                <a16:creationId xmlns:a16="http://schemas.microsoft.com/office/drawing/2014/main" id="{AC12A39B-B020-475B-B8FE-AF6801F1B4CF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1149025" y="3909225"/>
            <a:ext cx="1543500" cy="774600"/>
          </a:xfrm>
          <a:prstGeom xmlns:a="http://schemas.openxmlformats.org/drawingml/2006/main" prst="roundRect">
            <a:avLst>
              <a:gd name="adj" fmla="val 16696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6" name="Google Shape;76;p16">
            <a:extLst xmlns:a="http://schemas.openxmlformats.org/drawingml/2006/main">
              <a:ext uri="{FF2B5EF4-FFF2-40B4-BE49-F238E27FC236}">
                <a16:creationId xmlns:a16="http://schemas.microsoft.com/office/drawing/2014/main" id="{0F6EA317-5031-4582-8AD7-B7F4C875698A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3525075" y="3005550"/>
            <a:ext cx="1599900" cy="774600"/>
          </a:xfrm>
          <a:prstGeom xmlns:a="http://schemas.openxmlformats.org/drawingml/2006/main" prst="roundRect">
            <a:avLst>
              <a:gd name="adj" fmla="val 16696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7" name="Google Shape;77;p16">
            <a:extLst xmlns:a="http://schemas.openxmlformats.org/drawingml/2006/main">
              <a:ext uri="{FF2B5EF4-FFF2-40B4-BE49-F238E27FC236}">
                <a16:creationId xmlns:a16="http://schemas.microsoft.com/office/drawing/2014/main" id="{5695CA7B-4C45-4B0C-8002-8C5F649E9149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5271025" y="3005450"/>
            <a:ext cx="1118400" cy="16821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8" name="Google Shape;78;p16">
            <a:extLst xmlns:a="http://schemas.openxmlformats.org/drawingml/2006/main">
              <a:ext uri="{FF2B5EF4-FFF2-40B4-BE49-F238E27FC236}">
                <a16:creationId xmlns:a16="http://schemas.microsoft.com/office/drawing/2014/main" id="{521D9A58-C75D-4EC4-BBAF-66B9221E045C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7796850" y="3003650"/>
            <a:ext cx="1118400" cy="16734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9" name="Google Shape;79;p16">
            <a:extLst xmlns:a="http://schemas.openxmlformats.org/drawingml/2006/main">
              <a:ext uri="{FF2B5EF4-FFF2-40B4-BE49-F238E27FC236}">
                <a16:creationId xmlns:a16="http://schemas.microsoft.com/office/drawing/2014/main" id="{9F552170-DED3-4DC3-928D-F3983F5037E2}"/>
              </a:ext>
            </a:extLst>
          </p:cNvPr>
          <p:cNvSpPr>
            <a:spLocks xmlns:a="http://schemas.openxmlformats.org/drawingml/2006/main" noGrp="1"/>
          </p:cNvSpPr>
          <p:nvPr>
            <p:ph type="pic" idx="7"/>
          </p:nvPr>
        </p:nvSpPr>
        <p:spPr>
          <a:xfrm xmlns:a="http://schemas.openxmlformats.org/drawingml/2006/main">
            <a:off x="230525" y="3909225"/>
            <a:ext cx="774600" cy="774600"/>
          </a:xfrm>
          <a:prstGeom xmlns:a="http://schemas.openxmlformats.org/drawingml/2006/main" prst="roundRect">
            <a:avLst>
              <a:gd name="adj" fmla="val 16696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0" name="Google Shape;80;p16">
            <a:extLst xmlns:a="http://schemas.openxmlformats.org/drawingml/2006/main">
              <a:ext uri="{FF2B5EF4-FFF2-40B4-BE49-F238E27FC236}">
                <a16:creationId xmlns:a16="http://schemas.microsoft.com/office/drawing/2014/main" id="{A9EAD4B5-C5E9-45A4-A81C-66164FA992C9}"/>
              </a:ext>
            </a:extLst>
          </p:cNvPr>
          <p:cNvSpPr>
            <a:spLocks xmlns:a="http://schemas.openxmlformats.org/drawingml/2006/main" noGrp="1"/>
          </p:cNvSpPr>
          <p:nvPr>
            <p:ph type="pic" idx="8"/>
          </p:nvPr>
        </p:nvSpPr>
        <p:spPr>
          <a:xfrm xmlns:a="http://schemas.openxmlformats.org/drawingml/2006/main">
            <a:off x="2838375" y="3909225"/>
            <a:ext cx="1368300" cy="774600"/>
          </a:xfrm>
          <a:prstGeom xmlns:a="http://schemas.openxmlformats.org/drawingml/2006/main" prst="roundRect">
            <a:avLst>
              <a:gd name="adj" fmla="val 1979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1" name="Google Shape;81;p16">
            <a:extLst xmlns:a="http://schemas.openxmlformats.org/drawingml/2006/main">
              <a:ext uri="{FF2B5EF4-FFF2-40B4-BE49-F238E27FC236}">
                <a16:creationId xmlns:a16="http://schemas.microsoft.com/office/drawing/2014/main" id="{E2D1C015-1911-415D-B132-9478491B92BE}"/>
              </a:ext>
            </a:extLst>
          </p:cNvPr>
          <p:cNvSpPr>
            <a:spLocks xmlns:a="http://schemas.openxmlformats.org/drawingml/2006/main" noGrp="1"/>
          </p:cNvSpPr>
          <p:nvPr>
            <p:ph type="pic" idx="9"/>
          </p:nvPr>
        </p:nvSpPr>
        <p:spPr>
          <a:xfrm xmlns:a="http://schemas.openxmlformats.org/drawingml/2006/main">
            <a:off x="6535600" y="3008850"/>
            <a:ext cx="1118400" cy="767700"/>
          </a:xfrm>
          <a:prstGeom xmlns:a="http://schemas.openxmlformats.org/drawingml/2006/main" prst="roundRect">
            <a:avLst>
              <a:gd name="adj" fmla="val 20115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2" name="Google Shape;82;p16">
            <a:extLst xmlns:a="http://schemas.openxmlformats.org/drawingml/2006/main">
              <a:ext uri="{FF2B5EF4-FFF2-40B4-BE49-F238E27FC236}">
                <a16:creationId xmlns:a16="http://schemas.microsoft.com/office/drawing/2014/main" id="{C8B4A9B5-0D77-471F-AF3A-E0B42446EE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Meet the team Large">
  <p:cSld name="BLANK_1_1_2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17">
            <a:extLst xmlns:a="http://schemas.openxmlformats.org/drawingml/2006/main">
              <a:ext uri="{FF2B5EF4-FFF2-40B4-BE49-F238E27FC236}">
                <a16:creationId xmlns:a16="http://schemas.microsoft.com/office/drawing/2014/main" id="{67A7F60E-7BFC-4A53-B87B-9E5F0351620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" y="4891059"/>
            <a:ext cx="1475700" cy="12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/>
        </p:txBody>
      </p:sp>
      <p:sp>
        <p:nvSpPr>
          <p:cNvPr id="85" name="Google Shape;85;p17">
            <a:extLst xmlns:a="http://schemas.openxmlformats.org/drawingml/2006/main">
              <a:ext uri="{FF2B5EF4-FFF2-40B4-BE49-F238E27FC236}">
                <a16:creationId xmlns:a16="http://schemas.microsoft.com/office/drawing/2014/main" id="{75CD7B2F-72C0-418D-94B4-7B148D019A5E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28600" y="3337825"/>
            <a:ext cx="2118600" cy="34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b">
            <a:norm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2pPr>
            <a:lvl3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3pPr>
            <a:lvl4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4pPr>
            <a:lvl5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5pPr>
            <a:lvl6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6pPr>
            <a:lvl7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7pPr>
            <a:lvl8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8pPr>
            <a:lvl9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9pPr>
          </a:lstStyle>
          <a:p xmlns:a="http://schemas.openxmlformats.org/drawingml/2006/main"/>
        </p:txBody>
      </p:sp>
      <p:sp>
        <p:nvSpPr>
          <p:cNvPr id="86" name="Google Shape;86;p17">
            <a:extLst xmlns:a="http://schemas.openxmlformats.org/drawingml/2006/main">
              <a:ext uri="{FF2B5EF4-FFF2-40B4-BE49-F238E27FC236}">
                <a16:creationId xmlns:a16="http://schemas.microsoft.com/office/drawing/2014/main" id="{A07DA947-1A8B-4CB2-B3B7-C85A47BD1E73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228600" y="3547550"/>
            <a:ext cx="2062200" cy="34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rm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1pPr>
            <a:lvl2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2pPr>
            <a:lvl3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3pPr>
            <a:lvl4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4pPr>
            <a:lvl5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5pPr>
            <a:lvl6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6pPr>
            <a:lvl7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7pPr>
            <a:lvl8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8pPr>
            <a:lvl9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9pPr>
          </a:lstStyle>
          <a:p xmlns:a="http://schemas.openxmlformats.org/drawingml/2006/main"/>
        </p:txBody>
      </p:sp>
      <p:sp>
        <p:nvSpPr>
          <p:cNvPr id="87" name="Google Shape;87;p17">
            <a:extLst xmlns:a="http://schemas.openxmlformats.org/drawingml/2006/main">
              <a:ext uri="{FF2B5EF4-FFF2-40B4-BE49-F238E27FC236}">
                <a16:creationId xmlns:a16="http://schemas.microsoft.com/office/drawing/2014/main" id="{968282AB-449B-44D1-9660-CEEA0BB6FD62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228600" y="1457950"/>
            <a:ext cx="1023900" cy="1536300"/>
          </a:xfrm>
          <a:prstGeom xmlns:a="http://schemas.openxmlformats.org/drawingml/2006/main" prst="roundRect">
            <a:avLst>
              <a:gd name="adj" fmla="val 17439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8" name="Google Shape;88;p17">
            <a:extLst xmlns:a="http://schemas.openxmlformats.org/drawingml/2006/main">
              <a:ext uri="{FF2B5EF4-FFF2-40B4-BE49-F238E27FC236}">
                <a16:creationId xmlns:a16="http://schemas.microsoft.com/office/drawing/2014/main" id="{20A0F7AF-1D53-4272-ADA3-E9CAC27C1517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228600" y="3939125"/>
            <a:ext cx="1785300" cy="74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marL="9144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marL="13716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marL="18288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marL="22860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marL="27432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marL="32004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marL="36576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marL="41148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89" name="Google Shape;89;p17">
            <a:extLst xmlns:a="http://schemas.openxmlformats.org/drawingml/2006/main">
              <a:ext uri="{FF2B5EF4-FFF2-40B4-BE49-F238E27FC236}">
                <a16:creationId xmlns:a16="http://schemas.microsoft.com/office/drawing/2014/main" id="{A356361A-A488-424E-9486-1C7CCABCFD6C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2423700" y="3337825"/>
            <a:ext cx="2118600" cy="34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b">
            <a:norm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2pPr>
            <a:lvl3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3pPr>
            <a:lvl4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4pPr>
            <a:lvl5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5pPr>
            <a:lvl6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6pPr>
            <a:lvl7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7pPr>
            <a:lvl8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8pPr>
            <a:lvl9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9pPr>
          </a:lstStyle>
          <a:p xmlns:a="http://schemas.openxmlformats.org/drawingml/2006/main"/>
        </p:txBody>
      </p:sp>
      <p:sp>
        <p:nvSpPr>
          <p:cNvPr id="90" name="Google Shape;90;p17">
            <a:extLst xmlns:a="http://schemas.openxmlformats.org/drawingml/2006/main">
              <a:ext uri="{FF2B5EF4-FFF2-40B4-BE49-F238E27FC236}">
                <a16:creationId xmlns:a16="http://schemas.microsoft.com/office/drawing/2014/main" id="{D3598F90-0160-4222-8521-C84567751C19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2423700" y="3547550"/>
            <a:ext cx="2118600" cy="34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rm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1pPr>
            <a:lvl2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2pPr>
            <a:lvl3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3pPr>
            <a:lvl4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4pPr>
            <a:lvl5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5pPr>
            <a:lvl6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6pPr>
            <a:lvl7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7pPr>
            <a:lvl8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8pPr>
            <a:lvl9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9pPr>
          </a:lstStyle>
          <a:p xmlns:a="http://schemas.openxmlformats.org/drawingml/2006/main"/>
        </p:txBody>
      </p:sp>
      <p:sp>
        <p:nvSpPr>
          <p:cNvPr id="91" name="Google Shape;91;p17">
            <a:extLst xmlns:a="http://schemas.openxmlformats.org/drawingml/2006/main">
              <a:ext uri="{FF2B5EF4-FFF2-40B4-BE49-F238E27FC236}">
                <a16:creationId xmlns:a16="http://schemas.microsoft.com/office/drawing/2014/main" id="{DCEA4691-2E16-4166-BA38-B4D596C8F770}"/>
              </a:ext>
            </a:extLst>
          </p:cNvPr>
          <p:cNvSpPr>
            <a:spLocks xmlns:a="http://schemas.openxmlformats.org/drawingml/2006/main" noGrp="1"/>
          </p:cNvSpPr>
          <p:nvPr>
            <p:ph type="pic" idx="8"/>
          </p:nvPr>
        </p:nvSpPr>
        <p:spPr>
          <a:xfrm xmlns:a="http://schemas.openxmlformats.org/drawingml/2006/main">
            <a:off x="2423700" y="1457950"/>
            <a:ext cx="1023900" cy="1536300"/>
          </a:xfrm>
          <a:prstGeom xmlns:a="http://schemas.openxmlformats.org/drawingml/2006/main" prst="roundRect">
            <a:avLst>
              <a:gd name="adj" fmla="val 17439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2" name="Google Shape;92;p17">
            <a:extLst xmlns:a="http://schemas.openxmlformats.org/drawingml/2006/main">
              <a:ext uri="{FF2B5EF4-FFF2-40B4-BE49-F238E27FC236}">
                <a16:creationId xmlns:a16="http://schemas.microsoft.com/office/drawing/2014/main" id="{27137603-541E-4198-A191-7E9B7C40334A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2423700" y="3939125"/>
            <a:ext cx="1785300" cy="74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marL="9144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marL="13716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marL="18288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marL="22860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marL="27432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marL="32004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marL="36576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marL="41148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93" name="Google Shape;93;p17">
            <a:extLst xmlns:a="http://schemas.openxmlformats.org/drawingml/2006/main">
              <a:ext uri="{FF2B5EF4-FFF2-40B4-BE49-F238E27FC236}">
                <a16:creationId xmlns:a16="http://schemas.microsoft.com/office/drawing/2014/main" id="{75B7D936-D5CE-4D8E-94D5-B739A4B27918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4618800" y="3337827"/>
            <a:ext cx="2062200" cy="34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b">
            <a:norm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2pPr>
            <a:lvl3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3pPr>
            <a:lvl4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4pPr>
            <a:lvl5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5pPr>
            <a:lvl6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6pPr>
            <a:lvl7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7pPr>
            <a:lvl8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8pPr>
            <a:lvl9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9pPr>
          </a:lstStyle>
          <a:p xmlns:a="http://schemas.openxmlformats.org/drawingml/2006/main"/>
        </p:txBody>
      </p:sp>
      <p:sp>
        <p:nvSpPr>
          <p:cNvPr id="94" name="Google Shape;94;p17">
            <a:extLst xmlns:a="http://schemas.openxmlformats.org/drawingml/2006/main">
              <a:ext uri="{FF2B5EF4-FFF2-40B4-BE49-F238E27FC236}">
                <a16:creationId xmlns:a16="http://schemas.microsoft.com/office/drawing/2014/main" id="{67F51863-8F99-4041-BD38-BF5ECECC1E71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4618800" y="3547550"/>
            <a:ext cx="2062200" cy="34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rm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1pPr>
            <a:lvl2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2pPr>
            <a:lvl3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3pPr>
            <a:lvl4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4pPr>
            <a:lvl5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5pPr>
            <a:lvl6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6pPr>
            <a:lvl7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7pPr>
            <a:lvl8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8pPr>
            <a:lvl9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9pPr>
          </a:lstStyle>
          <a:p xmlns:a="http://schemas.openxmlformats.org/drawingml/2006/main"/>
        </p:txBody>
      </p:sp>
      <p:sp>
        <p:nvSpPr>
          <p:cNvPr id="95" name="Google Shape;95;p17">
            <a:extLst xmlns:a="http://schemas.openxmlformats.org/drawingml/2006/main">
              <a:ext uri="{FF2B5EF4-FFF2-40B4-BE49-F238E27FC236}">
                <a16:creationId xmlns:a16="http://schemas.microsoft.com/office/drawing/2014/main" id="{BAC3E46C-C038-4ACD-88F2-98BE730D3119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4618800" y="1457950"/>
            <a:ext cx="1023900" cy="1536300"/>
          </a:xfrm>
          <a:prstGeom xmlns:a="http://schemas.openxmlformats.org/drawingml/2006/main" prst="roundRect">
            <a:avLst>
              <a:gd name="adj" fmla="val 17439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6" name="Google Shape;96;p17">
            <a:extLst xmlns:a="http://schemas.openxmlformats.org/drawingml/2006/main">
              <a:ext uri="{FF2B5EF4-FFF2-40B4-BE49-F238E27FC236}">
                <a16:creationId xmlns:a16="http://schemas.microsoft.com/office/drawing/2014/main" id="{2B62493B-89DB-41CD-A799-B79F766B4B4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618800" y="3939125"/>
            <a:ext cx="1785300" cy="74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marL="9144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marL="13716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marL="18288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marL="22860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marL="27432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marL="32004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marL="36576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marL="41148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97" name="Google Shape;97;p17">
            <a:extLst xmlns:a="http://schemas.openxmlformats.org/drawingml/2006/main">
              <a:ext uri="{FF2B5EF4-FFF2-40B4-BE49-F238E27FC236}">
                <a16:creationId xmlns:a16="http://schemas.microsoft.com/office/drawing/2014/main" id="{92B49988-A34C-4AC2-841E-ACF7A759EE4E}"/>
              </a:ext>
            </a:extLst>
          </p:cNvPr>
          <p:cNvSpPr>
            <a:spLocks xmlns:a="http://schemas.openxmlformats.org/drawingml/2006/main" noGrp="1"/>
          </p:cNvSpPr>
          <p:nvPr>
            <p:ph type="subTitle" idx="17"/>
          </p:nvPr>
        </p:nvSpPr>
        <p:spPr>
          <a:xfrm xmlns:a="http://schemas.openxmlformats.org/drawingml/2006/main">
            <a:off x="6796750" y="3337800"/>
            <a:ext cx="2118600" cy="34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b">
            <a:norm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2pPr>
            <a:lvl3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3pPr>
            <a:lvl4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4pPr>
            <a:lvl5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5pPr>
            <a:lvl6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6pPr>
            <a:lvl7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7pPr>
            <a:lvl8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8pPr>
            <a:lvl9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</a:defRPr>
            </a:lvl9pPr>
          </a:lstStyle>
          <a:p xmlns:a="http://schemas.openxmlformats.org/drawingml/2006/main"/>
        </p:txBody>
      </p:sp>
      <p:sp>
        <p:nvSpPr>
          <p:cNvPr id="98" name="Google Shape;98;p17">
            <a:extLst xmlns:a="http://schemas.openxmlformats.org/drawingml/2006/main">
              <a:ext uri="{FF2B5EF4-FFF2-40B4-BE49-F238E27FC236}">
                <a16:creationId xmlns:a16="http://schemas.microsoft.com/office/drawing/2014/main" id="{21D26447-3346-41AC-B7E0-7662261EBE74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6796750" y="3547550"/>
            <a:ext cx="2118600" cy="34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rm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1pPr>
            <a:lvl2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2pPr>
            <a:lvl3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3pPr>
            <a:lvl4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4pPr>
            <a:lvl5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5pPr>
            <a:lvl6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6pPr>
            <a:lvl7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7pPr>
            <a:lvl8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8pPr>
            <a:lvl9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</a:defRPr>
            </a:lvl9pPr>
          </a:lstStyle>
          <a:p xmlns:a="http://schemas.openxmlformats.org/drawingml/2006/main"/>
        </p:txBody>
      </p:sp>
      <p:sp>
        <p:nvSpPr>
          <p:cNvPr id="99" name="Google Shape;99;p17">
            <a:extLst xmlns:a="http://schemas.openxmlformats.org/drawingml/2006/main">
              <a:ext uri="{FF2B5EF4-FFF2-40B4-BE49-F238E27FC236}">
                <a16:creationId xmlns:a16="http://schemas.microsoft.com/office/drawing/2014/main" id="{E23F0ECE-D5F3-4CBB-8D20-3010D429DE66}"/>
              </a:ext>
            </a:extLst>
          </p:cNvPr>
          <p:cNvSpPr>
            <a:spLocks xmlns:a="http://schemas.openxmlformats.org/drawingml/2006/main" noGrp="1"/>
          </p:cNvSpPr>
          <p:nvPr>
            <p:ph type="pic" idx="19"/>
          </p:nvPr>
        </p:nvSpPr>
        <p:spPr>
          <a:xfrm xmlns:a="http://schemas.openxmlformats.org/drawingml/2006/main">
            <a:off x="6796738" y="1457950"/>
            <a:ext cx="1023900" cy="1536300"/>
          </a:xfrm>
          <a:prstGeom xmlns:a="http://schemas.openxmlformats.org/drawingml/2006/main" prst="roundRect">
            <a:avLst>
              <a:gd name="adj" fmla="val 17439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00" name="Google Shape;100;p17">
            <a:extLst xmlns:a="http://schemas.openxmlformats.org/drawingml/2006/main">
              <a:ext uri="{FF2B5EF4-FFF2-40B4-BE49-F238E27FC236}">
                <a16:creationId xmlns:a16="http://schemas.microsoft.com/office/drawing/2014/main" id="{F2FB2B0A-B84D-45C5-B089-0A09024D6A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600" y="399325"/>
            <a:ext cx="3531300" cy="62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t">
            <a:normAutofit/>
          </a:bodyPr>
          <a:lstStyle xmlns:a="http://schemas.openxmlformats.org/drawingml/2006/main">
            <a:lvl1pPr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</a:defRPr>
            </a:lvl2pPr>
            <a:lvl3pPr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</a:defRPr>
            </a:lvl3pPr>
            <a:lvl4pPr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</a:defRPr>
            </a:lvl4pPr>
            <a:lvl5pPr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</a:defRPr>
            </a:lvl5pPr>
            <a:lvl6pPr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</a:defRPr>
            </a:lvl6pPr>
            <a:lvl7pPr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</a:defRPr>
            </a:lvl7pPr>
            <a:lvl8pPr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</a:defRPr>
            </a:lvl8pPr>
            <a:lvl9pPr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</a:defRPr>
            </a:lvl9pPr>
          </a:lstStyle>
          <a:p xmlns:a="http://schemas.openxmlformats.org/drawingml/2006/main"/>
        </p:txBody>
      </p:sp>
      <p:sp>
        <p:nvSpPr>
          <p:cNvPr id="101" name="Google Shape;101;p17">
            <a:extLst xmlns:a="http://schemas.openxmlformats.org/drawingml/2006/main">
              <a:ext uri="{FF2B5EF4-FFF2-40B4-BE49-F238E27FC236}">
                <a16:creationId xmlns:a16="http://schemas.microsoft.com/office/drawing/2014/main" id="{2494F0F3-9D44-4758-B141-26EA8436CA60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796750" y="3939125"/>
            <a:ext cx="1785300" cy="74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marL="9144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marL="13716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marL="18288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marL="22860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marL="27432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marL="32004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marL="36576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marL="411480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02" name="Google Shape;102;p17">
            <a:extLst xmlns:a="http://schemas.openxmlformats.org/drawingml/2006/main">
              <a:ext uri="{FF2B5EF4-FFF2-40B4-BE49-F238E27FC236}">
                <a16:creationId xmlns:a16="http://schemas.microsoft.com/office/drawing/2014/main" id="{D88423D4-7E41-4DDE-9076-63A78AED29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buNone/>
              <a:defRPr>
                <a:latin typeface="Georgia"/>
                <a:ea typeface="Georgia"/>
                <a:cs typeface="Georgia"/>
              </a:defRPr>
            </a:lvl1pPr>
            <a:lvl2pPr>
              <a:buNone/>
              <a:defRPr>
                <a:latin typeface="Georgia"/>
                <a:ea typeface="Georgia"/>
                <a:cs typeface="Georgia"/>
              </a:defRPr>
            </a:lvl2pPr>
            <a:lvl3pPr>
              <a:buNone/>
              <a:defRPr>
                <a:latin typeface="Georgia"/>
                <a:ea typeface="Georgia"/>
                <a:cs typeface="Georgia"/>
              </a:defRPr>
            </a:lvl3pPr>
            <a:lvl4pPr>
              <a:buNone/>
              <a:defRPr>
                <a:latin typeface="Georgia"/>
                <a:ea typeface="Georgia"/>
                <a:cs typeface="Georgia"/>
              </a:defRPr>
            </a:lvl4pPr>
            <a:lvl5pPr>
              <a:buNone/>
              <a:defRPr>
                <a:latin typeface="Georgia"/>
                <a:ea typeface="Georgia"/>
                <a:cs typeface="Georgia"/>
              </a:defRPr>
            </a:lvl5pPr>
            <a:lvl6pPr>
              <a:buNone/>
              <a:defRPr>
                <a:latin typeface="Georgia"/>
                <a:ea typeface="Georgia"/>
                <a:cs typeface="Georgia"/>
              </a:defRPr>
            </a:lvl6pPr>
            <a:lvl7pPr>
              <a:buNone/>
              <a:defRPr>
                <a:latin typeface="Georgia"/>
                <a:ea typeface="Georgia"/>
                <a:cs typeface="Georgia"/>
              </a:defRPr>
            </a:lvl7pPr>
            <a:lvl8pPr>
              <a:buNone/>
              <a:defRPr>
                <a:latin typeface="Georgia"/>
                <a:ea typeface="Georgia"/>
                <a:cs typeface="Georgia"/>
              </a:defRPr>
            </a:lvl8pPr>
            <a:lvl9pPr>
              <a:buNone/>
              <a:defRPr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a65db9055d4dbb" /><Relationship Type="http://schemas.openxmlformats.org/officeDocument/2006/relationships/slideLayout" Target="/ppt/slideLayouts/slideLayout1.xml" Id="R6a2c072aedde441c" /><Relationship Type="http://schemas.openxmlformats.org/officeDocument/2006/relationships/slideLayout" Target="/ppt/slideLayouts/slideLayout2.xml" Id="R856233505e314c5d" /><Relationship Type="http://schemas.openxmlformats.org/officeDocument/2006/relationships/slideLayout" Target="/ppt/slideLayouts/slideLayout3.xml" Id="R1e14365b3ec04471" /><Relationship Type="http://schemas.openxmlformats.org/officeDocument/2006/relationships/slideLayout" Target="/ppt/slideLayouts/slideLayout4.xml" Id="R5c27bd2c03104b33" /><Relationship Type="http://schemas.openxmlformats.org/officeDocument/2006/relationships/slideLayout" Target="/ppt/slideLayouts/slideLayout5.xml" Id="R196a17fb499f45ee" /><Relationship Type="http://schemas.openxmlformats.org/officeDocument/2006/relationships/slideLayout" Target="/ppt/slideLayouts/slideLayout6.xml" Id="R2ecf4109d37e4dad" /><Relationship Type="http://schemas.openxmlformats.org/officeDocument/2006/relationships/slideLayout" Target="/ppt/slideLayouts/slideLayout7.xml" Id="R78d18c6e01924de5" /><Relationship Type="http://schemas.openxmlformats.org/officeDocument/2006/relationships/slideLayout" Target="/ppt/slideLayouts/slideLayout8.xml" Id="R3bbd068cb1494be0" /><Relationship Type="http://schemas.openxmlformats.org/officeDocument/2006/relationships/slideLayout" Target="/ppt/slideLayouts/slideLayout9.xml" Id="R5672783609c44b3e" /><Relationship Type="http://schemas.openxmlformats.org/officeDocument/2006/relationships/slideLayout" Target="/ppt/slideLayouts/slideLayout10.xml" Id="Ra4a8783b8fde4f45" /><Relationship Type="http://schemas.openxmlformats.org/officeDocument/2006/relationships/slideLayout" Target="/ppt/slideLayouts/slideLayout11.xml" Id="R07ac6bdfdd104437" /><Relationship Type="http://schemas.openxmlformats.org/officeDocument/2006/relationships/slideLayout" Target="/ppt/slideLayouts/slideLayout12.xml" Id="Rc8753f0b58ba41e7" /><Relationship Type="http://schemas.openxmlformats.org/officeDocument/2006/relationships/slideLayout" Target="/ppt/slideLayouts/slideLayout13.xml" Id="Rf6466a423af047a9" /><Relationship Type="http://schemas.openxmlformats.org/officeDocument/2006/relationships/slideLayout" Target="/ppt/slideLayouts/slideLayout14.xml" Id="Rfe7491ede81a42a2" /><Relationship Type="http://schemas.openxmlformats.org/officeDocument/2006/relationships/slideLayout" Target="/ppt/slideLayouts/slideLayout15.xml" Id="Rec6df09b89b8446b" /><Relationship Type="http://schemas.openxmlformats.org/officeDocument/2006/relationships/slideLayout" Target="/ppt/slideLayouts/slideLayout16.xml" Id="R2ab16f1a8e354346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D749BE2A-6F77-4655-B32D-20565F03AE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9C227EB2-30F6-4C74-B0B3-FA8972C0C9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6F4F81BC-37A4-4B12-8918-09FEC7B0BE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2c072aedde441c"/>
    <p:sldLayoutId xmlns:r="http://schemas.openxmlformats.org/officeDocument/2006/relationships" id="2147483650" r:id="R856233505e314c5d"/>
    <p:sldLayoutId xmlns:r="http://schemas.openxmlformats.org/officeDocument/2006/relationships" id="2147483651" r:id="R1e14365b3ec04471"/>
    <p:sldLayoutId xmlns:r="http://schemas.openxmlformats.org/officeDocument/2006/relationships" id="2147483652" r:id="R5c27bd2c03104b33"/>
    <p:sldLayoutId xmlns:r="http://schemas.openxmlformats.org/officeDocument/2006/relationships" id="2147483653" r:id="R196a17fb499f45ee"/>
    <p:sldLayoutId xmlns:r="http://schemas.openxmlformats.org/officeDocument/2006/relationships" id="2147483654" r:id="R2ecf4109d37e4dad"/>
    <p:sldLayoutId xmlns:r="http://schemas.openxmlformats.org/officeDocument/2006/relationships" id="2147483655" r:id="R78d18c6e01924de5"/>
    <p:sldLayoutId xmlns:r="http://schemas.openxmlformats.org/officeDocument/2006/relationships" id="2147483656" r:id="R3bbd068cb1494be0"/>
    <p:sldLayoutId xmlns:r="http://schemas.openxmlformats.org/officeDocument/2006/relationships" id="2147483657" r:id="R5672783609c44b3e"/>
    <p:sldLayoutId xmlns:r="http://schemas.openxmlformats.org/officeDocument/2006/relationships" id="2147483658" r:id="Ra4a8783b8fde4f45"/>
    <p:sldLayoutId xmlns:r="http://schemas.openxmlformats.org/officeDocument/2006/relationships" id="2147483659" r:id="R07ac6bdfdd104437"/>
    <p:sldLayoutId xmlns:r="http://schemas.openxmlformats.org/officeDocument/2006/relationships" id="2147483660" r:id="Rc8753f0b58ba41e7"/>
    <p:sldLayoutId xmlns:r="http://schemas.openxmlformats.org/officeDocument/2006/relationships" id="2147483661" r:id="Rf6466a423af047a9"/>
    <p:sldLayoutId xmlns:r="http://schemas.openxmlformats.org/officeDocument/2006/relationships" id="2147483662" r:id="Rfe7491ede81a42a2"/>
    <p:sldLayoutId xmlns:r="http://schemas.openxmlformats.org/officeDocument/2006/relationships" id="2147483663" r:id="Rec6df09b89b8446b"/>
    <p:sldLayoutId xmlns:r="http://schemas.openxmlformats.org/officeDocument/2006/relationships" id="2147483664" r:id="R2ab16f1a8e35434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36fdfbb101b42d7" /><Relationship Type="http://schemas.openxmlformats.org/officeDocument/2006/relationships/hyperlink" Target="https://github.com/seanyepez/me344ricechem" TargetMode="External" Id="R02e7146ba0b0431e" /><Relationship Type="http://schemas.openxmlformats.org/officeDocument/2006/relationships/hyperlink" Target="https://arxiv.org/abs/2404.14316" TargetMode="External" Id="Rc2772b40805b4201" /><Relationship Type="http://schemas.openxmlformats.org/officeDocument/2006/relationships/hyperlink" Target="https://arxiv.org/abs/2603.00077" TargetMode="External" Id="R25722546ca0d4028" /><Relationship Type="http://schemas.openxmlformats.org/officeDocument/2006/relationships/hyperlink" Target="https://arxiv.org/abs/2603.29559" TargetMode="External" Id="R04d355e6e6f74b1a" /><Relationship Type="http://schemas.openxmlformats.org/officeDocument/2006/relationships/image" Target="/ppt/media/image.jpeg" Id="R134ca40343bd4100" /><Relationship Type="http://schemas.openxmlformats.org/officeDocument/2006/relationships/notesSlide" Target="/ppt/notesSlides/notesSlide1.xml" Id="Rbf099c1e6cbe45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8b4a03e357149e5" /><Relationship Type="http://schemas.openxmlformats.org/officeDocument/2006/relationships/image" Target="/ppt/media/image.png" Id="R4d273a12eefa408d" /><Relationship Type="http://schemas.openxmlformats.org/officeDocument/2006/relationships/image" Target="/ppt/media/image2.png" Id="R30cf47fcd0094a9a" /><Relationship Type="http://schemas.openxmlformats.org/officeDocument/2006/relationships/image" Target="/ppt/media/image3.png" Id="Rcd6af567d4d44639" /><Relationship Type="http://schemas.openxmlformats.org/officeDocument/2006/relationships/notesSlide" Target="/ppt/notesSlides/notesSlide2.xml" Id="R05f667549cda4b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b69c20968e848e9" /><Relationship Type="http://schemas.openxmlformats.org/officeDocument/2006/relationships/image" Target="/ppt/media/image4.png" Id="Rdd4b89b7cf7f4d09" /><Relationship Type="http://schemas.openxmlformats.org/officeDocument/2006/relationships/notesSlide" Target="/ppt/notesSlides/notesSlide3.xml" Id="Reb0c7330b7a946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f8cf99b53ed7472e" /><Relationship Type="http://schemas.openxmlformats.org/officeDocument/2006/relationships/image" Target="/ppt/media/image4.png" Id="R01b9d840a8de4d3c" /><Relationship Type="http://schemas.openxmlformats.org/officeDocument/2006/relationships/notesSlide" Target="/ppt/notesSlides/notesSlide4.xml" Id="Ra46a38e1f0c944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50f7244931ab4d1c" /><Relationship Type="http://schemas.openxmlformats.org/officeDocument/2006/relationships/notesSlide" Target="/ppt/notesSlides/notesSlide5.xml" Id="R83c1a17af7d94d9a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TitleName"/>
          <p:cNvSpPr txBox="1"/>
          <p:nvPr/>
        </p:nvSpPr>
        <p:spPr>
          <a:xfrm>
            <a:off x="400000" y="230000"/>
            <a:ext cx="8344000" cy="4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Bef>
                <a:spcPts val="300"/>
              </a:spcBef>
            </a:pPr>
            <a:r>
              <a:rPr lang="en-US" sz="1900" b="1" dirty="0">
                <a:solidFill>
                  <a:srgbClr val="1C1B1A"/>
                </a:solidFill>
                <a:latin typeface="Manrope"/>
              </a:rPr>
              <a:t>Sean Yépez · ME344 Summer 2026 · Final Project, Option 2</a:t>
            </a:r>
          </a:p>
        </p:txBody>
      </p:sp>
      <p:sp>
        <p:nvSpPr>
          <p:cNvPr id="102" name="RepoLink"/>
          <p:cNvSpPr txBox="1"/>
          <p:nvPr/>
        </p:nvSpPr>
        <p:spPr>
          <a:xfrm>
            <a:off x="400000" y="620000"/>
            <a:ext cx="8344000" cy="26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Bef>
                <a:spcPts val="300"/>
              </a:spcBef>
            </a:pPr>
            <a:r>
              <a:rPr lang="en-US" sz="1150" b="1" dirty="0">
                <a:solidFill>
                  <a:srgbClr val="1D6B3C"/>
                </a:solidFill>
                <a:latin typeface="Manrope"/>
                <a:hlinkClick xmlns:r="http://schemas.openxmlformats.org/officeDocument/2006/relationships" r:id="R02e7146ba0b0431e"/>
              </a:rPr>
              <a:t>↗ github.com/seanyepez/me344ricechem</a:t>
            </a:r>
          </a:p>
        </p:txBody>
      </p:sp>
      <p:sp>
        <p:nvSpPr>
          <p:cNvPr id="103" name="ProblemHead"/>
          <p:cNvSpPr txBox="1"/>
          <p:nvPr/>
        </p:nvSpPr>
        <p:spPr>
          <a:xfrm>
            <a:off x="400000" y="970000"/>
            <a:ext cx="6200000" cy="34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Bef>
                <a:spcPts val="300"/>
              </a:spcBef>
            </a:pPr>
            <a:r>
              <a:rPr lang="en-US" sz="1600" b="1" dirty="0">
                <a:solidFill>
                  <a:srgbClr val="1C1B1A"/>
                </a:solidFill>
                <a:latin typeface="Manrope"/>
              </a:rPr>
              <a:t>Problem: grading consumes the time meant for teaching</a:t>
            </a:r>
          </a:p>
        </p:txBody>
      </p:sp>
      <p:sp>
        <p:nvSpPr>
          <p:cNvPr id="104" name="ProblemBody"/>
          <p:cNvSpPr txBox="1"/>
          <p:nvPr/>
        </p:nvSpPr>
        <p:spPr>
          <a:xfrm>
            <a:off x="400000" y="1370000"/>
            <a:ext cx="6100000" cy="62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Bef>
                <a:spcPts val="300"/>
              </a:spcBef>
            </a:pPr>
            <a:r>
              <a:rPr lang="en-US" sz="1150" b="0" dirty="0">
                <a:solidFill>
                  <a:srgbClr val="1C1B1A"/>
                </a:solidFill>
                <a:latin typeface="Manrope"/>
              </a:rPr>
              <a:t>I love teaching, but of every 8 paid hours, 7 go to grading. I want to invert that ratio. Treemarks is my AI grading system for STEM classes: every decision checked against a rubric tied to the underlying logic, physics, and math.</a:t>
            </a:r>
          </a:p>
        </p:txBody>
      </p:sp>
      <p:sp>
        <p:nvSpPr>
          <p:cNvPr id="105" name="Flow"/>
          <p:cNvSpPr txBox="1"/>
          <p:nvPr/>
        </p:nvSpPr>
        <p:spPr>
          <a:xfrm>
            <a:off x="400000" y="2020000"/>
            <a:ext cx="6100000" cy="26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Bef>
                <a:spcPts val="300"/>
              </a:spcBef>
            </a:pPr>
            <a:r>
              <a:rPr lang="en-US" sz="1050" b="0" dirty="0">
                <a:solidFill>
                  <a:srgbClr val="616973"/>
                </a:solidFill>
                <a:latin typeface="Manrope"/>
              </a:rPr>
              <a:t>AI checks every rubric decision → the TA reviews uncertain cases → students receive feedback sooner</a:t>
            </a:r>
          </a:p>
        </p:txBody>
      </p:sp>
      <p:sp>
        <p:nvSpPr>
          <p:cNvPr id="106" name="RCHead"/>
          <p:cNvSpPr txBox="1"/>
          <p:nvPr/>
        </p:nvSpPr>
        <p:spPr>
          <a:xfrm>
            <a:off x="400000" y="2450000"/>
            <a:ext cx="8344000" cy="28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Bef>
                <a:spcPts val="300"/>
              </a:spcBef>
            </a:pPr>
            <a:r>
              <a:rPr lang="en-US" sz="1250" b="1" dirty="0">
                <a:solidFill>
                  <a:srgbClr val="1D6B3C"/>
                </a:solidFill>
                <a:latin typeface="Manrope"/>
              </a:rPr>
              <a:t>RICECHEM · THE SUPERVISED BENCHMARK</a:t>
            </a:r>
          </a:p>
        </p:txBody>
      </p:sp>
      <p:sp>
        <p:nvSpPr>
          <p:cNvPr id="107" name="RCBody"/>
          <p:cNvSpPr txBox="1"/>
          <p:nvPr/>
        </p:nvSpPr>
        <p:spPr>
          <a:xfrm>
            <a:off x="400000" y="2740000"/>
            <a:ext cx="8344000" cy="56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Bef>
                <a:spcPts val="300"/>
              </a:spcBef>
            </a:pPr>
            <a:r>
              <a:rPr lang="en-US" sz="1100" b="0" dirty="0">
                <a:solidFill>
                  <a:srgbClr val="1C1B1A"/>
                </a:solidFill>
                <a:latin typeface="Manrope"/>
              </a:rPr>
              <a:t>RiceChem is the benchmark recent papers use: a chemistry exam graded against instructor rubrics. 1,264 responses · 4 questions · 27 rubric items → 8,392 TA-labeled TRUE/FALSE decisions. One decision = one answer + one criterion → the TA's label.</a:t>
            </a:r>
          </a:p>
        </p:txBody>
      </p:sp>
      <p:sp>
        <p:nvSpPr>
          <p:cNvPr id="108" name="Papers"/>
          <p:cNvSpPr txBox="1"/>
          <p:nvPr/>
        </p:nvSpPr>
        <p:spPr>
          <a:xfrm>
            <a:off x="400000" y="3340000"/>
            <a:ext cx="8344000" cy="76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Bef>
                <a:spcPts val="300"/>
              </a:spcBef>
            </a:pPr>
            <a:r>
              <a:rPr lang="en-US" sz="1000" b="0" dirty="0">
                <a:solidFill>
                  <a:srgbClr val="1C1B1A"/>
                </a:solidFill>
                <a:latin typeface="Manrope"/>
              </a:rPr>
              <a:t>•  </a:t>
            </a:r>
            <a:r>
              <a:rPr lang="en-US" sz="1000" b="1" dirty="0">
                <a:solidFill>
                  <a:srgbClr val="1D6B3C"/>
                </a:solidFill>
                <a:latin typeface="Manrope"/>
                <a:hlinkClick xmlns:r="http://schemas.openxmlformats.org/officeDocument/2006/relationships" r:id="Rc2772b40805b4201"/>
              </a:rPr>
              <a:t>Sonkar et al. (2024)</a:t>
            </a:r>
            <a:r>
              <a:rPr lang="en-US" sz="1000" b="0" dirty="0">
                <a:solidFill>
                  <a:srgbClr val="1C1B1A"/>
                </a:solidFill>
                <a:latin typeface="Manrope"/>
              </a:rPr>
              <a:t> · introduces RiceChem and rubric-based grading of long-form answers</a:t>
            </a:r>
          </a:p>
          <a:p>
            <a:pPr>
              <a:spcBef>
                <a:spcPts val="300"/>
              </a:spcBef>
            </a:pPr>
            <a:r>
              <a:rPr lang="en-US" sz="1000" b="0" dirty="0">
                <a:solidFill>
                  <a:srgbClr val="1C1B1A"/>
                </a:solidFill>
                <a:latin typeface="Manrope"/>
              </a:rPr>
              <a:t>•  </a:t>
            </a:r>
            <a:r>
              <a:rPr lang="en-US" sz="1000" b="1" dirty="0">
                <a:solidFill>
                  <a:srgbClr val="1D6B3C"/>
                </a:solidFill>
                <a:latin typeface="Manrope"/>
                <a:hlinkClick xmlns:r="http://schemas.openxmlformats.org/officeDocument/2006/relationships" r:id="R25722546ca0d4028"/>
              </a:rPr>
              <a:t>Rao &amp; Callison-Burch (2026)</a:t>
            </a:r>
            <a:r>
              <a:rPr lang="en-US" sz="1000" b="0" dirty="0">
                <a:solidFill>
                  <a:srgbClr val="1C1B1A"/>
                </a:solidFill>
                <a:latin typeface="Manrope"/>
              </a:rPr>
              <a:t> · Autorubric, rubric-based LLM evaluation</a:t>
            </a:r>
          </a:p>
          <a:p>
            <a:pPr>
              <a:spcBef>
                <a:spcPts val="300"/>
              </a:spcBef>
            </a:pPr>
            <a:r>
              <a:rPr lang="en-US" sz="1000" b="0" dirty="0">
                <a:solidFill>
                  <a:srgbClr val="1C1B1A"/>
                </a:solidFill>
                <a:latin typeface="Manrope"/>
              </a:rPr>
              <a:t>•  </a:t>
            </a:r>
            <a:r>
              <a:rPr lang="en-US" sz="1000" b="1" dirty="0">
                <a:solidFill>
                  <a:srgbClr val="1D6B3C"/>
                </a:solidFill>
                <a:latin typeface="Manrope"/>
                <a:hlinkClick xmlns:r="http://schemas.openxmlformats.org/officeDocument/2006/relationships" r:id="R04d355e6e6f74b1a"/>
              </a:rPr>
              <a:t>Ferrer et al. (2026)</a:t>
            </a:r>
            <a:r>
              <a:rPr lang="en-US" sz="1000" b="0" dirty="0">
                <a:solidFill>
                  <a:srgbClr val="1C1B1A"/>
                </a:solidFill>
                <a:latin typeface="Manrope"/>
              </a:rPr>
              <a:t> · when to trust LLM graders</a:t>
            </a:r>
          </a:p>
        </p:txBody>
      </p:sp>
      <p:sp>
        <p:nvSpPr>
          <p:cNvPr id="109" name="RQHead"/>
          <p:cNvSpPr txBox="1"/>
          <p:nvPr/>
        </p:nvSpPr>
        <p:spPr>
          <a:xfrm>
            <a:off x="400000" y="4160000"/>
            <a:ext cx="8344000" cy="26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Bef>
                <a:spcPts val="300"/>
              </a:spcBef>
            </a:pPr>
            <a:r>
              <a:rPr lang="en-US" sz="1250" b="1" dirty="0">
                <a:solidFill>
                  <a:srgbClr val="1D6B3C"/>
                </a:solidFill>
                <a:latin typeface="Manrope"/>
              </a:rPr>
              <a:t>RESEARCH QUESTIONS</a:t>
            </a:r>
          </a:p>
        </p:txBody>
      </p:sp>
      <p:sp>
        <p:nvSpPr>
          <p:cNvPr id="110" name="RQs"/>
          <p:cNvSpPr txBox="1"/>
          <p:nvPr/>
        </p:nvSpPr>
        <p:spPr>
          <a:xfrm>
            <a:off x="400000" y="4430000"/>
            <a:ext cx="8344000" cy="68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Bef>
                <a:spcPts val="300"/>
              </a:spcBef>
            </a:pPr>
            <a:r>
              <a:rPr lang="en-US" sz="1000" b="1" dirty="0">
                <a:solidFill>
                  <a:srgbClr val="1C1B1A"/>
                </a:solidFill>
                <a:latin typeface="Manrope"/>
              </a:rPr>
              <a:t>RQ1 · Quality: </a:t>
            </a:r>
            <a:r>
              <a:rPr lang="en-US" sz="1000" b="0" dirty="0">
                <a:solidFill>
                  <a:srgbClr val="1C1B1A"/>
                </a:solidFill>
                <a:latin typeface="Manrope"/>
              </a:rPr>
              <a:t>can tuning make a local model accurate enough for rubric grading?</a:t>
            </a:r>
          </a:p>
          <a:p>
            <a:pPr>
              <a:spcBef>
                <a:spcPts val="300"/>
              </a:spcBef>
            </a:pPr>
            <a:r>
              <a:rPr lang="en-US" sz="1000" b="1" dirty="0">
                <a:solidFill>
                  <a:srgbClr val="1C1B1A"/>
                </a:solidFill>
                <a:latin typeface="Manrope"/>
              </a:rPr>
              <a:t>RQ2 · Systems: </a:t>
            </a:r>
            <a:r>
              <a:rPr lang="en-US" sz="1000" b="0" dirty="0">
                <a:solidFill>
                  <a:srgbClr val="1C1B1A"/>
                </a:solidFill>
                <a:latin typeface="Manrope"/>
              </a:rPr>
              <a:t>how do CPU, GPU, and TPU change latency, throughput, and utilization?</a:t>
            </a:r>
          </a:p>
          <a:p>
            <a:pPr>
              <a:spcBef>
                <a:spcPts val="300"/>
              </a:spcBef>
            </a:pPr>
            <a:r>
              <a:rPr lang="en-US" sz="1000" b="1" dirty="0">
                <a:solidFill>
                  <a:srgbClr val="1C1B1A"/>
                </a:solidFill>
                <a:latin typeface="Manrope"/>
              </a:rPr>
              <a:t>RQ3 · Operations: </a:t>
            </a:r>
            <a:r>
              <a:rPr lang="en-US" sz="1000" b="0" dirty="0">
                <a:solidFill>
                  <a:srgbClr val="1C1B1A"/>
                </a:solidFill>
                <a:latin typeface="Manrope"/>
              </a:rPr>
              <a:t>which configuration meets the quality bar in under 24 hours at lowest cost?</a:t>
            </a:r>
          </a:p>
        </p:txBody>
      </p:sp>
      <p:pic>
        <p:nvPicPr>
          <p:cNvPr id="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4ca40343bd4100"/>
          <a:srcRect xmlns:a="http://schemas.openxmlformats.org/drawingml/2006/main" l="0" t="20354" r="0" b="203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0000" y="950000"/>
            <a:ext cx="1894000" cy="1497800"/>
          </a:xfrm>
          <a:prstGeom xmlns:a="http://schemas.openxmlformats.org/drawingml/2006/main" prst="roundRect">
            <a:avLst>
              <a:gd name="adj" fmla="val 7742"/>
            </a:avLst>
          </a:prstGeom>
        </p:spPr>
      </p:pic>
      <p:sp>
        <p:nvSpPr>
          <p:cNvPr id="111" name="PhotoCredit"/>
          <p:cNvSpPr txBox="1"/>
          <p:nvPr/>
        </p:nvSpPr>
        <p:spPr>
          <a:xfrm>
            <a:off x="6850000" y="2470000"/>
            <a:ext cx="1894000" cy="2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Bef>
                <a:spcPts val="300"/>
              </a:spcBef>
            </a:pPr>
            <a:r>
              <a:rPr lang="en-US" sz="800" b="0" dirty="0">
                <a:solidFill>
                  <a:srgbClr val="616973"/>
                </a:solidFill>
                <a:latin typeface="Manrope"/>
              </a:rPr>
              <a:t>Sean Yépez · Dr. Mourad Bouache · Google</a:t>
            </a:r>
          </a:p>
        </p:txBody>
      </p:sp>
    </p:spTree>
    <p:extLst>
      <p:ext uri="{BB962C8B-B14F-4D97-AF65-F5344CB8AC3E}">
        <p14:creationId xmlns:p14="http://schemas.microsoft.com/office/powerpoint/2010/main" val="16407286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Google Shape;122;p19">
            <a:extLst xmlns:a="http://schemas.openxmlformats.org/drawingml/2006/main">
              <a:ext uri="{FF2B5EF4-FFF2-40B4-BE49-F238E27FC236}">
                <a16:creationId xmlns:a16="http://schemas.microsoft.com/office/drawing/2014/main" id="{85DF2942-9527-4E9B-9BD5-11AE533E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61872"/>
            <a:ext cx="1828800" cy="2587847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1FE"/>
          </a:solidFill>
          <a:ln xmlns:a="http://schemas.openxmlformats.org/drawingml/2006/main" w="14288">
            <a:solidFill>
              <a:srgbClr val="4285F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">
            <a:extLst xmlns:a="http://schemas.openxmlformats.org/drawingml/2006/main">
              <a:ext uri="{FF2B5EF4-FFF2-40B4-BE49-F238E27FC236}">
                <a16:creationId xmlns:a16="http://schemas.microsoft.com/office/drawing/2014/main" id="{F7FBF808-154D-46AA-B50E-AA87FD53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1261872"/>
            <a:ext cx="1828800" cy="2587847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1FE"/>
          </a:solidFill>
          <a:ln xmlns:a="http://schemas.openxmlformats.org/drawingml/2006/main" w="14288">
            <a:solidFill>
              <a:srgbClr val="4285F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9">
            <a:extLst xmlns:a="http://schemas.openxmlformats.org/drawingml/2006/main">
              <a:ext uri="{FF2B5EF4-FFF2-40B4-BE49-F238E27FC236}">
                <a16:creationId xmlns:a16="http://schemas.microsoft.com/office/drawing/2014/main" id="{86100AF1-E512-4F8D-A13D-B9DBB1BA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261872"/>
            <a:ext cx="4023265" cy="2587847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4ED"/>
          </a:solidFill>
          <a:ln xmlns:a="http://schemas.openxmlformats.org/drawingml/2006/main" w="14288">
            <a:solidFill>
              <a:srgbClr val="39A96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9">
            <a:extLst xmlns:a="http://schemas.openxmlformats.org/drawingml/2006/main">
              <a:ext uri="{FF2B5EF4-FFF2-40B4-BE49-F238E27FC236}">
                <a16:creationId xmlns:a16="http://schemas.microsoft.com/office/drawing/2014/main" id="{0F23A401-E2BD-4936-9547-A553347B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4752"/>
            <a:ext cx="1463135" cy="201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63" b="1">
                <a:solidFill>
                  <a:srgbClr val="2055A5"/>
                </a:solidFill>
                <a:latin typeface="Manrope"/>
                <a:ea typeface="Manrope"/>
                <a:cs typeface="Manrope"/>
              </a:defRPr>
            </a:pPr>
            <a:r>
              <a:rPr sz="863" b="1">
                <a:solidFill>
                  <a:srgbClr val="2055A5"/>
                </a:solidFill>
                <a:latin typeface="Manrope"/>
                <a:ea typeface="Manrope"/>
                <a:cs typeface="Manrope"/>
              </a:rPr>
              <a:t>ORCHESTRATE</a:t>
            </a:r>
            <a:endParaRPr sz="900" b="1">
              <a:solidFill>
                <a:srgbClr val="1F4E8C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126" name="Google Shape;126;p19">
            <a:extLst xmlns:a="http://schemas.openxmlformats.org/drawingml/2006/main">
              <a:ext uri="{FF2B5EF4-FFF2-40B4-BE49-F238E27FC236}">
                <a16:creationId xmlns:a16="http://schemas.microsoft.com/office/drawing/2014/main" id="{EA95EB78-B6E4-4A61-AFC9-CB8A7B5F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444752"/>
            <a:ext cx="1463135" cy="201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63" b="1">
                <a:solidFill>
                  <a:srgbClr val="2055A5"/>
                </a:solidFill>
                <a:latin typeface="Manrope"/>
                <a:ea typeface="Manrope"/>
                <a:cs typeface="Manrope"/>
              </a:defRPr>
            </a:pPr>
            <a:r>
              <a:rPr sz="863" b="1">
                <a:solidFill>
                  <a:srgbClr val="2055A5"/>
                </a:solidFill>
                <a:latin typeface="Manrope"/>
                <a:ea typeface="Manrope"/>
                <a:cs typeface="Manrope"/>
              </a:rPr>
              <a:t>STORAGE + I/O</a:t>
            </a:r>
            <a:endParaRPr sz="900" b="1">
              <a:solidFill>
                <a:srgbClr val="1F4E8C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127" name="Google Shape;127;p19">
            <a:extLst xmlns:a="http://schemas.openxmlformats.org/drawingml/2006/main">
              <a:ext uri="{FF2B5EF4-FFF2-40B4-BE49-F238E27FC236}">
                <a16:creationId xmlns:a16="http://schemas.microsoft.com/office/drawing/2014/main" id="{575C0E61-B5AF-4C80-AD97-4B93B7F3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1444752"/>
            <a:ext cx="3602736" cy="201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63" b="1">
                <a:solidFill>
                  <a:srgbClr val="1D6B3C"/>
                </a:solidFill>
                <a:latin typeface="Manrope"/>
                <a:ea typeface="Manrope"/>
                <a:cs typeface="Manrope"/>
              </a:defRPr>
            </a:pPr>
            <a:r>
              <a:rPr sz="863" b="1">
                <a:solidFill>
                  <a:srgbClr val="1D6B3C"/>
                </a:solidFill>
                <a:latin typeface="Manrope"/>
                <a:ea typeface="Manrope"/>
                <a:cs typeface="Manrope"/>
              </a:rPr>
              <a:t>TRAIN + SERVE</a:t>
            </a:r>
            <a:endParaRPr sz="900" b="1">
              <a:solidFill>
                <a:srgbClr val="146C43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128" name="Google Shape;128;p19">
            <a:extLst xmlns:a="http://schemas.openxmlformats.org/drawingml/2006/main">
              <a:ext uri="{FF2B5EF4-FFF2-40B4-BE49-F238E27FC236}">
                <a16:creationId xmlns:a16="http://schemas.microsoft.com/office/drawing/2014/main" id="{8C701EC2-EE2F-4F4D-8CC0-C2548B2A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88920"/>
            <a:ext cx="1371600" cy="255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rmAutofit fontScale="85630"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2055A5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2055A5"/>
                </a:solidFill>
                <a:latin typeface="Manrope"/>
                <a:ea typeface="Manrope"/>
                <a:cs typeface="Manrope"/>
              </a:rPr>
              <a:t>Docker + GKE Job</a:t>
            </a:r>
            <a:endParaRPr sz="1500" b="1">
              <a:solidFill>
                <a:srgbClr val="1F4E8C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129" name="Google Shape;129;p19">
            <a:extLst xmlns:a="http://schemas.openxmlformats.org/drawingml/2006/main">
              <a:ext uri="{FF2B5EF4-FFF2-40B4-BE49-F238E27FC236}">
                <a16:creationId xmlns:a16="http://schemas.microsoft.com/office/drawing/2014/main" id="{B2FCC526-7AF3-4EBA-91D9-D689FC40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90672"/>
            <a:ext cx="1554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63" b="0">
                <a:solidFill>
                  <a:srgbClr val="69737D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9737D"/>
                </a:solidFill>
                <a:latin typeface="Manrope"/>
                <a:ea typeface="Manrope"/>
                <a:cs typeface="Manrope"/>
              </a:rPr>
              <a:t>pinned image · reusable K8s manifest</a:t>
            </a:r>
            <a:endParaRPr sz="1000">
              <a:solidFill>
                <a:srgbClr val="667085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130" name="Google Shape;130;p19">
            <a:extLst xmlns:a="http://schemas.openxmlformats.org/drawingml/2006/main">
              <a:ext uri="{FF2B5EF4-FFF2-40B4-BE49-F238E27FC236}">
                <a16:creationId xmlns:a16="http://schemas.microsoft.com/office/drawing/2014/main" id="{17C3C315-6395-47B3-A9A2-11761D71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88920"/>
            <a:ext cx="1463135" cy="255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rmAutofit fontScale="87361"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2055A5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2055A5"/>
                </a:solidFill>
                <a:latin typeface="Manrope"/>
                <a:ea typeface="Manrope"/>
                <a:cs typeface="Manrope"/>
              </a:rPr>
              <a:t>GCS + range cache</a:t>
            </a:r>
            <a:endParaRPr b="1">
              <a:solidFill>
                <a:srgbClr val="1F4E8C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131" name="Google Shape;131;p19">
            <a:extLst xmlns:a="http://schemas.openxmlformats.org/drawingml/2006/main">
              <a:ext uri="{FF2B5EF4-FFF2-40B4-BE49-F238E27FC236}">
                <a16:creationId xmlns:a16="http://schemas.microsoft.com/office/drawing/2014/main" id="{0432A76B-14D5-483C-A7B7-FED6C522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90672"/>
            <a:ext cx="146313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rmAutofit fontScale="95688"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63" b="0">
                <a:solidFill>
                  <a:srgbClr val="69737D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9737D"/>
                </a:solidFill>
                <a:latin typeface="Manrope"/>
                <a:ea typeface="Manrope"/>
                <a:cs typeface="Manrope"/>
              </a:rPr>
              <a:t>authorized data · checkpoints · aggregate receipts</a:t>
            </a:r>
            <a:endParaRPr sz="1000">
              <a:solidFill>
                <a:srgbClr val="667085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132" name="Google Shape;132;p19">
            <a:extLst xmlns:a="http://schemas.openxmlformats.org/drawingml/2006/main">
              <a:ext uri="{FF2B5EF4-FFF2-40B4-BE49-F238E27FC236}">
                <a16:creationId xmlns:a16="http://schemas.microsoft.com/office/drawing/2014/main" id="{3767A04A-411A-4E9A-8DDD-FF13ECB3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755648"/>
            <a:ext cx="1627537" cy="164582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5EF"/>
          </a:solidFill>
          <a:ln xmlns:a="http://schemas.openxmlformats.org/drawingml/2006/main" w="12383">
            <a:solidFill>
              <a:srgbClr val="F0673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9">
            <a:extLst xmlns:a="http://schemas.openxmlformats.org/drawingml/2006/main">
              <a:ext uri="{FF2B5EF4-FFF2-40B4-BE49-F238E27FC236}">
                <a16:creationId xmlns:a16="http://schemas.microsoft.com/office/drawing/2014/main" id="{453B98B7-BF86-4596-B8E6-03199BF7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755648"/>
            <a:ext cx="1718977" cy="164582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ECFA"/>
          </a:solidFill>
          <a:ln xmlns:a="http://schemas.openxmlformats.org/drawingml/2006/main" w="12383">
            <a:solidFill>
              <a:srgbClr val="8E63B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9">
            <a:extLst xmlns:a="http://schemas.openxmlformats.org/drawingml/2006/main">
              <a:ext uri="{FF2B5EF4-FFF2-40B4-BE49-F238E27FC236}">
                <a16:creationId xmlns:a16="http://schemas.microsoft.com/office/drawing/2014/main" id="{F72F1193-BEE7-400E-98A3-8C1640FB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2189988"/>
            <a:ext cx="1353312" cy="569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rmAutofit fontScale="96668"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A43416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A43416"/>
                </a:solidFill>
                <a:latin typeface="Manrope"/>
                <a:ea typeface="Manrope"/>
                <a:cs typeface="Manrope"/>
              </a:rPr>
              <a:t>CPU + A100</a:t>
            </a:r>
            <a:endParaRPr sz="1500" b="1">
              <a:solidFill>
                <a:srgbClr val="9A3412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A43416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A43416"/>
                </a:solidFill>
                <a:latin typeface="Manrope"/>
                <a:ea typeface="Manrope"/>
                <a:cs typeface="Manrope"/>
              </a:rPr>
              <a:t>PyTorch / QLoRA</a:t>
            </a:r>
            <a:endParaRPr sz="1500" b="1">
              <a:solidFill>
                <a:srgbClr val="9A3412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135" name="Google Shape;135;p19">
            <a:extLst xmlns:a="http://schemas.openxmlformats.org/drawingml/2006/main">
              <a:ext uri="{FF2B5EF4-FFF2-40B4-BE49-F238E27FC236}">
                <a16:creationId xmlns:a16="http://schemas.microsoft.com/office/drawing/2014/main" id="{DBD136CD-99DD-4E1C-84B6-99094687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624" y="2829973"/>
            <a:ext cx="13898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rmAutofit fontScale="97769"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63" b="0">
                <a:solidFill>
                  <a:srgbClr val="B54A2A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B54A2A"/>
                </a:solidFill>
                <a:latin typeface="Manrope"/>
                <a:ea typeface="Manrope"/>
                <a:cs typeface="Manrope"/>
              </a:rPr>
              <a:t>CUDA · vLLM dynamic batching</a:t>
            </a:r>
            <a:endParaRPr sz="1000">
              <a:solidFill>
                <a:srgbClr val="9A3412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136" name="Google Shape;136;p19">
            <a:extLst xmlns:a="http://schemas.openxmlformats.org/drawingml/2006/main">
              <a:ext uri="{FF2B5EF4-FFF2-40B4-BE49-F238E27FC236}">
                <a16:creationId xmlns:a16="http://schemas.microsoft.com/office/drawing/2014/main" id="{BA9B14A0-F603-424F-8FED-FCBE729A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441448"/>
            <a:ext cx="1408176" cy="502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6543A4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6543A4"/>
                </a:solidFill>
                <a:latin typeface="Manrope"/>
                <a:ea typeface="Manrope"/>
                <a:cs typeface="Manrope"/>
              </a:rPr>
              <a:t>TPU v5e-8</a:t>
            </a:r>
            <a:endParaRPr sz="1200" b="1">
              <a:solidFill>
                <a:srgbClr val="5B3A8A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6543A4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6543A4"/>
                </a:solidFill>
                <a:latin typeface="Manrope"/>
                <a:ea typeface="Manrope"/>
                <a:cs typeface="Manrope"/>
              </a:rPr>
              <a:t>JAX / XLA</a:t>
            </a:r>
            <a:endParaRPr sz="1200" b="1">
              <a:solidFill>
                <a:srgbClr val="5B3A8A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137" name="Google Shape;137;p19">
            <a:extLst xmlns:a="http://schemas.openxmlformats.org/drawingml/2006/main">
              <a:ext uri="{FF2B5EF4-FFF2-40B4-BE49-F238E27FC236}">
                <a16:creationId xmlns:a16="http://schemas.microsoft.com/office/drawing/2014/main" id="{82AAACF1-535A-433A-A295-01C32EA3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136" y="2999232"/>
            <a:ext cx="142646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63" b="0">
                <a:solidFill>
                  <a:srgbClr val="6543A4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543A4"/>
                </a:solidFill>
                <a:latin typeface="Manrope"/>
                <a:ea typeface="Manrope"/>
                <a:cs typeface="Manrope"/>
              </a:rPr>
              <a:t>compiled train / serve step</a:t>
            </a:r>
            <a:endParaRPr sz="900">
              <a:solidFill>
                <a:srgbClr val="5B3A8A"/>
              </a:solidFill>
              <a:latin typeface="Manrope"/>
              <a:ea typeface="Manrope"/>
              <a:cs typeface="Manrope"/>
            </a:endParaRPr>
          </a:p>
        </p:txBody>
      </p:sp>
      <p:pic>
        <p:nvPicPr>
          <p:cNvPr id="174" name="Google Shape;138;p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73a12eefa408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992" y="1865376"/>
            <a:ext cx="658368" cy="6583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5" name="Google Shape;139;p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f47fcd0094a9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5536" y="1865376"/>
            <a:ext cx="658368" cy="6583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6" name="Google Shape;140;p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af567d4d4463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78624" y="1874520"/>
            <a:ext cx="475488" cy="47548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9">
            <a:extLst xmlns:a="http://schemas.openxmlformats.org/drawingml/2006/main">
              <a:ext uri="{FF2B5EF4-FFF2-40B4-BE49-F238E27FC236}">
                <a16:creationId xmlns:a16="http://schemas.microsoft.com/office/drawing/2014/main" id="{713283C9-B616-4CAD-866E-55C67358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1">
                <a:solidFill>
                  <a:srgbClr val="1D6B3C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1D6B3C"/>
                </a:solidFill>
                <a:latin typeface="Manrope"/>
                <a:ea typeface="Manrope"/>
                <a:cs typeface="Manrope"/>
              </a:rPr>
              <a:t>PROPOSAL · SYSTEM + EXPERIMENT</a:t>
            </a:r>
            <a:endParaRPr sz="1100" b="1">
              <a:solidFill>
                <a:srgbClr val="14735B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142" name="Google Shape;142;p19">
            <a:extLst xmlns:a="http://schemas.openxmlformats.org/drawingml/2006/main">
              <a:ext uri="{FF2B5EF4-FFF2-40B4-BE49-F238E27FC236}">
                <a16:creationId xmlns:a16="http://schemas.microsoft.com/office/drawing/2014/main" id="{F4A4B4D8-988D-4491-BA45-3DDE1FCE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814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1B1A"/>
                </a:solidFill>
                <a:latin typeface="Manrope"/>
                <a:ea typeface="Manrope"/>
                <a:cs typeface="Manrope"/>
              </a:defRPr>
            </a:pPr>
            <a:r>
              <a:rPr sz="2175" b="1">
                <a:solidFill>
                  <a:srgbClr val="1C1B1A"/>
                </a:solidFill>
                <a:latin typeface="Manrope"/>
                <a:ea typeface="Manrope"/>
                <a:cs typeface="Manrope"/>
              </a:rPr>
              <a:t>Containerize and run a supervised experiment on three compute lanes</a:t>
            </a:r>
            <a:endParaRPr sz="2600" b="1">
              <a:solidFill>
                <a:srgbClr val="1F2937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8F1F334C-EB18-4138-A222-0EA67198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1D6B3C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1D6B3C"/>
                </a:solidFill>
                <a:latin typeface="Manrope"/>
                <a:ea typeface="Manrope"/>
                <a:cs typeface="Manrope"/>
              </a:rPr>
              <a:t>EXPERIMENT DESIGN · 8,392 TA-LABELED DECISIONS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049BBAC-1A1A-4839-BD7C-7E191C7B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43375"/>
            <a:ext cx="64198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02BECCB0-1A7F-4D3A-8A3C-BE4A2026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43375"/>
            <a:ext cx="514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C272F78-C50B-44E1-AF61-889BD3AD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43375"/>
            <a:ext cx="7905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solidFill>
              <a:srgbClr val="F5B84B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97D97C5-E335-428C-83B5-F521C87F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143375"/>
            <a:ext cx="828675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6B3C"/>
          </a:solidFill>
          <a:ln xmlns:a="http://schemas.openxmlformats.org/drawingml/2006/main" w="0">
            <a:solidFill>
              <a:srgbClr val="1D6B3C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6E3D377-C4C4-44C3-B5A5-93522CA0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143375"/>
            <a:ext cx="400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3C"/>
          </a:solidFill>
          <a:ln xmlns:a="http://schemas.openxmlformats.org/drawingml/2006/main" w="0">
            <a:solidFill>
              <a:srgbClr val="1D6B3C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DF469DAE-570B-42BB-BE21-D236F0BF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43375"/>
            <a:ext cx="80391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9050">
            <a:solidFill>
              <a:srgbClr val="9CAEA3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39242FC5-6C44-453D-93C8-D1C3FB6F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78486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2500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BDE829A3-14C5-4EC5-83C1-D6FD7ABF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600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38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TRAIN · 6,700 · 80%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38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update adapters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6CDAD551-3E72-4414-AD0F-A3A43555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19575"/>
            <a:ext cx="742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53" b="1">
                <a:solidFill>
                  <a:srgbClr val="5E4300"/>
                </a:solidFill>
                <a:latin typeface="Manrope"/>
                <a:ea typeface="Manrope"/>
                <a:cs typeface="Manrope"/>
              </a:defRPr>
            </a:pPr>
            <a:r>
              <a:rPr sz="653" b="1">
                <a:solidFill>
                  <a:srgbClr val="5E4300"/>
                </a:solidFill>
                <a:latin typeface="Manrope"/>
                <a:ea typeface="Manrope"/>
                <a:cs typeface="Manrope"/>
              </a:rPr>
              <a:t>VALIDATE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53" b="1">
                <a:solidFill>
                  <a:srgbClr val="5E4300"/>
                </a:solidFill>
                <a:latin typeface="Manrope"/>
                <a:ea typeface="Manrope"/>
                <a:cs typeface="Manrope"/>
              </a:defRPr>
            </a:pPr>
            <a:r>
              <a:rPr sz="653" b="1">
                <a:solidFill>
                  <a:srgbClr val="5E4300"/>
                </a:solidFill>
                <a:latin typeface="Manrope"/>
                <a:ea typeface="Manrope"/>
                <a:cs typeface="Manrope"/>
              </a:rPr>
              <a:t>831 · 10%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39EEAF02-89EB-4452-B37E-D51FFCDD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19575"/>
            <a:ext cx="78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53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653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TEST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53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653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861 · 10%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EA2EC4A3-F324-4906-8807-38E4E518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95825"/>
            <a:ext cx="803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65" b="0">
                <a:solidFill>
                  <a:srgbClr val="69737D"/>
                </a:solidFill>
                <a:latin typeface="Manrope"/>
                <a:ea typeface="Manrope"/>
                <a:cs typeface="Manrope"/>
              </a:defRPr>
            </a:pPr>
            <a:r>
              <a:rPr sz="765" b="0">
                <a:solidFill>
                  <a:srgbClr val="69737D"/>
                </a:solidFill>
                <a:latin typeface="Manrope"/>
                <a:ea typeface="Manrope"/>
                <a:cs typeface="Manrope"/>
              </a:rPr>
              <a:t>Validation picks the checkpoint. The test set is opened once, at the end.</a:t>
            </a:r>
          </a:p>
        </p:txBody>
      </p:sp>
    </p:spTree>
    <p:extLst>
      <p:ext uri="{BB962C8B-B14F-4D97-AF65-F5344CB8AC3E}">
        <p14:creationId xmlns:p14="http://schemas.microsoft.com/office/powerpoint/2010/main" val="15070693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Google Shape;147;p20">
            <a:extLst xmlns:a="http://schemas.openxmlformats.org/drawingml/2006/main">
              <a:ext uri="{FF2B5EF4-FFF2-40B4-BE49-F238E27FC236}">
                <a16:creationId xmlns:a16="http://schemas.microsoft.com/office/drawing/2014/main" id="{F57FEBC6-8DE9-48DA-98EE-8EAEBE27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952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88236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1B1A"/>
                </a:solidFill>
                <a:latin typeface="Manrope"/>
                <a:ea typeface="Manrope"/>
                <a:cs typeface="Manrope"/>
              </a:defRPr>
            </a:pPr>
            <a:r>
              <a:rPr sz="2175" b="1">
                <a:solidFill>
                  <a:srgbClr val="1C1B1A"/>
                </a:solidFill>
                <a:latin typeface="Manrope"/>
                <a:ea typeface="Manrope"/>
                <a:cs typeface="Manrope"/>
              </a:rPr>
              <a:t>Measurements: instrument the workload and disclose what is missing</a:t>
            </a:r>
            <a:endParaRPr sz="2500" b="1">
              <a:solidFill>
                <a:srgbClr val="1C1B1A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149" name="Google Shape;149;p20">
            <a:extLst xmlns:a="http://schemas.openxmlformats.org/drawingml/2006/main">
              <a:ext uri="{FF2B5EF4-FFF2-40B4-BE49-F238E27FC236}">
                <a16:creationId xmlns:a16="http://schemas.microsoft.com/office/drawing/2014/main" id="{FCF7500B-3CF7-4A27-91C9-DFDAF8FA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047750"/>
            <a:ext cx="2844927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6200" tIns="7620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50" b="0">
                <a:solidFill>
                  <a:srgbClr val="34332F"/>
                </a:solidFill>
                <a:latin typeface="Manrope"/>
                <a:ea typeface="Manrope"/>
                <a:cs typeface="Manrope"/>
              </a:defRPr>
            </a:pPr>
            <a:r>
              <a:rPr sz="1150" b="0">
                <a:solidFill>
                  <a:srgbClr val="34332F"/>
                </a:solidFill>
                <a:latin typeface="Manrope"/>
                <a:ea typeface="Manrope"/>
                <a:cs typeface="Manrope"/>
              </a:rPr>
              <a:t>WORKLOAD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150" b="0">
                <a:solidFill>
                  <a:srgbClr val="34332F"/>
                </a:solidFill>
                <a:latin typeface="Manrope"/>
                <a:ea typeface="Manrope"/>
                <a:cs typeface="Manrope"/>
              </a:defRPr>
            </a:pPr>
            <a:r>
              <a:rPr sz="1150" b="0">
                <a:solidFill>
                  <a:srgbClr val="34332F"/>
                </a:solidFill>
                <a:latin typeface="Manrope"/>
                <a:ea typeface="Manrope"/>
                <a:cs typeface="Manrope"/>
              </a:rPr>
              <a:t>861 decisions · same prompt/parser/output cap · c=1 and c=24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150" b="0">
                <a:solidFill>
                  <a:srgbClr val="34332F"/>
                </a:solidFill>
                <a:latin typeface="Manrope"/>
                <a:ea typeface="Manrope"/>
                <a:cs typeface="Manrope"/>
              </a:defRPr>
            </a:pPr>
            <a:r>
              <a:rPr sz="1150" b="0">
                <a:solidFill>
                  <a:srgbClr val="34332F"/>
                </a:solidFill>
                <a:latin typeface="Manrope"/>
                <a:ea typeface="Manrope"/>
                <a:cs typeface="Manrope"/>
              </a:rPr>
              <a:t> 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150" b="0">
                <a:solidFill>
                  <a:srgbClr val="34332F"/>
                </a:solidFill>
                <a:latin typeface="Manrope"/>
                <a:ea typeface="Manrope"/>
                <a:cs typeface="Manrope"/>
              </a:defRPr>
            </a:pPr>
            <a:r>
              <a:rPr sz="1150" b="0">
                <a:solidFill>
                  <a:srgbClr val="34332F"/>
                </a:solidFill>
                <a:latin typeface="Manrope"/>
                <a:ea typeface="Manrope"/>
                <a:cs typeface="Manrope"/>
              </a:rPr>
              <a:t>COMPUTE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150" b="0">
                <a:solidFill>
                  <a:srgbClr val="34332F"/>
                </a:solidFill>
                <a:latin typeface="Manrope"/>
                <a:ea typeface="Manrope"/>
                <a:cs typeface="Manrope"/>
              </a:defRPr>
            </a:pPr>
            <a:r>
              <a:rPr sz="1150" b="0">
                <a:solidFill>
                  <a:srgbClr val="34332F"/>
                </a:solidFill>
                <a:latin typeface="Manrope"/>
                <a:ea typeface="Manrope"/>
                <a:cs typeface="Manrope"/>
              </a:rPr>
              <a:t>wall time · p50/p95 · decisions/s · wall/step time as cycle proxy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150" b="0">
                <a:solidFill>
                  <a:srgbClr val="34332F"/>
                </a:solidFill>
                <a:latin typeface="Manrope"/>
                <a:ea typeface="Manrope"/>
                <a:cs typeface="Manrope"/>
              </a:defRPr>
            </a:pPr>
            <a:r>
              <a:rPr sz="1150" b="0">
                <a:solidFill>
                  <a:srgbClr val="34332F"/>
                </a:solidFill>
                <a:latin typeface="Manrope"/>
                <a:ea typeface="Manrope"/>
                <a:cs typeface="Manrope"/>
              </a:rPr>
              <a:t> 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150" b="0">
                <a:solidFill>
                  <a:srgbClr val="34332F"/>
                </a:solidFill>
                <a:latin typeface="Manrope"/>
                <a:ea typeface="Manrope"/>
                <a:cs typeface="Manrope"/>
              </a:defRPr>
            </a:pPr>
            <a:r>
              <a:rPr sz="1150" b="0">
                <a:solidFill>
                  <a:srgbClr val="34332F"/>
                </a:solidFill>
                <a:latin typeface="Manrope"/>
                <a:ea typeface="Manrope"/>
                <a:cs typeface="Manrope"/>
              </a:rPr>
              <a:t>MEMORY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150" b="0">
                <a:solidFill>
                  <a:srgbClr val="34332F"/>
                </a:solidFill>
                <a:latin typeface="Manrope"/>
                <a:ea typeface="Manrope"/>
                <a:cs typeface="Manrope"/>
              </a:defRPr>
            </a:pPr>
            <a:r>
              <a:rPr sz="1150" b="0">
                <a:solidFill>
                  <a:srgbClr val="34332F"/>
                </a:solidFill>
                <a:latin typeface="Manrope"/>
                <a:ea typeface="Manrope"/>
                <a:cs typeface="Manrope"/>
              </a:rPr>
              <a:t>CPU mCPU + RSS · A100 NVML + VRAM · TPU host memory only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150" b="0">
                <a:solidFill>
                  <a:srgbClr val="34332F"/>
                </a:solidFill>
                <a:latin typeface="Manrope"/>
                <a:ea typeface="Manrope"/>
                <a:cs typeface="Manrope"/>
              </a:defRPr>
            </a:pPr>
            <a:r>
              <a:rPr sz="1150" b="0">
                <a:solidFill>
                  <a:srgbClr val="34332F"/>
                </a:solidFill>
                <a:latin typeface="Manrope"/>
                <a:ea typeface="Manrope"/>
                <a:cs typeface="Manrope"/>
              </a:rPr>
              <a:t> 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150" b="0">
                <a:solidFill>
                  <a:srgbClr val="34332F"/>
                </a:solidFill>
                <a:latin typeface="Manrope"/>
                <a:ea typeface="Manrope"/>
                <a:cs typeface="Manrope"/>
              </a:defRPr>
            </a:pPr>
            <a:r>
              <a:rPr sz="1150" b="0">
                <a:solidFill>
                  <a:srgbClr val="34332F"/>
                </a:solidFill>
                <a:latin typeface="Manrope"/>
                <a:ea typeface="Manrope"/>
                <a:cs typeface="Manrope"/>
              </a:rPr>
              <a:t>INPUT / I/O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150" b="0">
                <a:solidFill>
                  <a:srgbClr val="34332F"/>
                </a:solidFill>
                <a:latin typeface="Manrope"/>
                <a:ea typeface="Manrope"/>
                <a:cs typeface="Manrope"/>
              </a:defRPr>
            </a:pPr>
            <a:r>
              <a:rPr sz="1150" b="0">
                <a:solidFill>
                  <a:srgbClr val="34332F"/>
                </a:solidFill>
                <a:latin typeface="Manrope"/>
                <a:ea typeface="Manrope"/>
                <a:cs typeface="Manrope"/>
              </a:rPr>
              <a:t>GCS range cache fixed startup; load and XLA compile time not isolated</a:t>
            </a:r>
          </a:p>
        </p:txBody>
      </p:sp>
      <p:pic>
        <p:nvPicPr>
          <p:cNvPr id="154" name="Google Shape;150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d4b89b7cf7f4d0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581600"/>
            <a:ext cx="5700000" cy="45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724091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Google Shape;147;p20">
            <a:extLst xmlns:a="http://schemas.openxmlformats.org/drawingml/2006/main">
              <a:ext uri="{FF2B5EF4-FFF2-40B4-BE49-F238E27FC236}">
                <a16:creationId xmlns:a16="http://schemas.microsoft.com/office/drawing/2014/main" id="{F57FEBC6-8DE9-48DA-98EE-8EAEBE27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C1B1A"/>
                </a:solidFill>
                <a:latin typeface="Manrope"/>
                <a:ea typeface="Manrope"/>
                <a:cs typeface="Manrope"/>
              </a:rPr>
              <a:t>Measurements: instrument the workload end to end</a:t>
            </a:r>
            <a:endParaRPr sz="2500" b="1">
              <a:solidFill>
                <a:srgbClr val="1C1B1A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148" name="Google Shape;148;p20">
            <a:extLst xmlns:a="http://schemas.openxmlformats.org/drawingml/2006/main">
              <a:ext uri="{FF2B5EF4-FFF2-40B4-BE49-F238E27FC236}">
                <a16:creationId xmlns:a16="http://schemas.microsoft.com/office/drawing/2014/main" id="{1B5BCF6B-F596-4318-977E-9FC4C8CE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>
                <a:solidFill>
                  <a:srgbClr val="616973"/>
                </a:solidFill>
                <a:latin typeface="Manrope"/>
                <a:ea typeface="Manrope"/>
                <a:cs typeface="Manrope"/>
              </a:rPr>
              <a:t>Three required scale steps: 16-vCPU baseline · one A100 40 GB · TPU v5e-8. Raw telemetry stays private; the repository publishes reviewed aggregates.</a:t>
            </a:r>
            <a:endParaRPr sz="850">
              <a:solidFill>
                <a:srgbClr val="616973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149" name="Google Shape;149;p20">
            <a:extLst xmlns:a="http://schemas.openxmlformats.org/drawingml/2006/main">
              <a:ext uri="{FF2B5EF4-FFF2-40B4-BE49-F238E27FC236}">
                <a16:creationId xmlns:a16="http://schemas.microsoft.com/office/drawing/2014/main" id="{FCF7500B-3CF7-4A27-91C9-DFDAF8FA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06400" lvl="0" indent="-28892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262E"/>
              </a:buClr>
              <a:buSzPts val="1350"/>
              <a:buFont typeface="Manrope"/>
              <a:buChar char="●"/>
            </a:pPr>
            <a:r>
              <a:rPr sz="1350">
                <a:solidFill>
                  <a:srgbClr val="21262E"/>
                </a:solidFill>
                <a:latin typeface="Manrope"/>
                <a:ea typeface="Manrope"/>
                <a:cs typeface="Manrope"/>
              </a:rPr>
              <a:t>Lock the workload: same 861-decision manifest, prompt, parser, output cap, checkpoint, and concurrency sweep.</a:t>
            </a:r>
            <a:endParaRPr sz="1350">
              <a:solidFill>
                <a:srgbClr val="21262E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406400" lvl="0" indent="-28892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262E"/>
              </a:buClr>
              <a:buSzPts val="1350"/>
              <a:buFont typeface="Manrope"/>
              <a:buChar char="●"/>
            </a:pPr>
            <a:r>
              <a:rPr sz="1350">
                <a:solidFill>
                  <a:srgbClr val="21262E"/>
                </a:solidFill>
                <a:latin typeface="Manrope"/>
                <a:ea typeface="Manrope"/>
                <a:cs typeface="Manrope"/>
              </a:rPr>
              <a:t>Capture end to end: CPU time/cycles, utilization, peak memory, load/compile time, p50/p95 latency, throughput, and input I/O.</a:t>
            </a:r>
            <a:endParaRPr sz="1350">
              <a:solidFill>
                <a:srgbClr val="21262E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406400" lvl="0" indent="-28892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262E"/>
              </a:buClr>
              <a:buSzPts val="1350"/>
              <a:buFont typeface="Manrope"/>
              <a:buChar char="●"/>
            </a:pPr>
            <a:r>
              <a:rPr sz="1350">
                <a:solidFill>
                  <a:srgbClr val="21262E"/>
                </a:solidFill>
                <a:latin typeface="Manrope"/>
                <a:ea typeface="Manrope"/>
                <a:cs typeface="Manrope"/>
              </a:rPr>
              <a:t>Compare only like with like; unavailable telemetry stays unavailable—not estimated.</a:t>
            </a:r>
            <a:endParaRPr sz="1350">
              <a:solidFill>
                <a:srgbClr val="21262E"/>
              </a:solidFill>
              <a:latin typeface="Manrope"/>
              <a:ea typeface="Manrope"/>
              <a:cs typeface="Manrope"/>
            </a:endParaRPr>
          </a:p>
        </p:txBody>
      </p:sp>
      <p:pic>
        <p:nvPicPr>
          <p:cNvPr id="175" name="Google Shape;150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1b9d840a8de4d3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58C6EE2A-3249-4359-86EC-2FD71579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D6B3C"/>
                </a:solidFill>
                <a:latin typeface="Manrope"/>
                <a:ea typeface="Manrope"/>
                <a:cs typeface="Manrope"/>
              </a:defRPr>
            </a:pPr>
            <a:r>
              <a:rPr sz="938" b="1">
                <a:solidFill>
                  <a:srgbClr val="1D6B3C"/>
                </a:solidFill>
                <a:latin typeface="Manrope"/>
                <a:ea typeface="Manrope"/>
                <a:cs typeface="Manrope"/>
              </a:rPr>
              <a:t>RESULTS · CONTROLLED 4B SERVING PROFILE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F8ECEFB1-37EC-4D91-8C1D-588532A2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8143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C1B1A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1C1B1A"/>
                </a:solidFill>
                <a:latin typeface="Manrope"/>
                <a:ea typeface="Manrope"/>
                <a:cs typeface="Manrope"/>
              </a:rPr>
              <a:t>Accelerators cut single-stream grading time 30–41×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62AA218D-AE51-4811-9DB1-B159D242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D6B3C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1D6B3C"/>
                </a:solidFill>
                <a:latin typeface="Manrope"/>
                <a:ea typeface="Manrope"/>
                <a:cs typeface="Manrope"/>
              </a:rPr>
              <a:t>THROUGHPUT SPEEDUP · CONCURRENCY 1 · CPU = 1×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35DF80A-324A-4278-AE74-74647DDB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43025"/>
            <a:ext cx="1428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4332F"/>
                </a:solidFill>
                <a:latin typeface="Manrope"/>
                <a:ea typeface="Manrope"/>
                <a:cs typeface="Manrope"/>
              </a:defRPr>
            </a:pPr>
            <a:r>
              <a:rPr sz="1125" b="1">
                <a:solidFill>
                  <a:srgbClr val="34332F"/>
                </a:solidFill>
                <a:latin typeface="Manrope"/>
                <a:ea typeface="Manrope"/>
                <a:cs typeface="Manrope"/>
              </a:rPr>
              <a:t>16-vCPU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C9AAA110-55F2-4D2C-8434-A254E18D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47625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2F4"/>
          </a:solidFill>
          <a:ln xmlns:a="http://schemas.openxmlformats.org/drawingml/2006/main" w="0">
            <a:solidFill>
              <a:srgbClr val="F0F2F4"/>
            </a:solidFill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FBACBDB-767F-4096-A6C0-EEBBC46A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12382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A5B1"/>
          </a:solidFill>
          <a:ln xmlns:a="http://schemas.openxmlformats.org/drawingml/2006/main" w="0">
            <a:solidFill>
              <a:srgbClr val="9AA5B1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846CD3F-0FB5-4B0B-8732-C8AF506E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5240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9AA5B1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9AA5B1"/>
                </a:solidFill>
                <a:latin typeface="Manrope"/>
                <a:ea typeface="Manrope"/>
                <a:cs typeface="Manrope"/>
              </a:rPr>
              <a:t>1.0×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9CBC0B8C-3D70-4076-815D-DAE154BE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69737D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9737D"/>
                </a:solidFill>
                <a:latin typeface="Manrope"/>
                <a:ea typeface="Manrope"/>
                <a:cs typeface="Manrope"/>
              </a:rPr>
              <a:t>0.28/s  ·  50.9 min  ·  95.1% CPU · 18.0 GB RSS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57BEEB74-93D5-450B-8819-1DA99F2B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428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4332F"/>
                </a:solidFill>
                <a:latin typeface="Manrope"/>
                <a:ea typeface="Manrope"/>
                <a:cs typeface="Manrope"/>
              </a:defRPr>
            </a:pPr>
            <a:r>
              <a:rPr sz="1125" b="1">
                <a:solidFill>
                  <a:srgbClr val="34332F"/>
                </a:solidFill>
                <a:latin typeface="Manrope"/>
                <a:ea typeface="Manrope"/>
                <a:cs typeface="Manrope"/>
              </a:rPr>
              <a:t>A100 40 GB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2172E78A-F6BF-4D16-BE3E-D53D2BC1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47625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2F4"/>
          </a:solidFill>
          <a:ln xmlns:a="http://schemas.openxmlformats.org/drawingml/2006/main" w="0">
            <a:solidFill>
              <a:srgbClr val="F0F2F4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9B1C1A3B-C180-41B8-8F0E-EADEBA35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347662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1B21834-BC43-41CD-BD1F-9D11DBA9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3622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4285F4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4285F4"/>
                </a:solidFill>
                <a:latin typeface="Manrope"/>
                <a:ea typeface="Manrope"/>
                <a:cs typeface="Manrope"/>
              </a:rPr>
              <a:t>30.5×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1DEAB5E6-FA97-4A6D-AFEC-85F85946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69737D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9737D"/>
                </a:solidFill>
                <a:latin typeface="Manrope"/>
                <a:ea typeface="Manrope"/>
                <a:cs typeface="Manrope"/>
              </a:rPr>
              <a:t>8.54/s  ·  100.8 s  ·  19.5% GPU · 35.6 GB VRAM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E6AE91FE-2F77-4037-AF72-14E022F1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19425"/>
            <a:ext cx="1428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4332F"/>
                </a:solidFill>
                <a:latin typeface="Manrope"/>
                <a:ea typeface="Manrope"/>
                <a:cs typeface="Manrope"/>
              </a:defRPr>
            </a:pPr>
            <a:r>
              <a:rPr sz="1125" b="1">
                <a:solidFill>
                  <a:srgbClr val="34332F"/>
                </a:solidFill>
                <a:latin typeface="Manrope"/>
                <a:ea typeface="Manrope"/>
                <a:cs typeface="Manrope"/>
              </a:rPr>
              <a:t>TPU v5e-8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F42E5E30-B3B5-44E7-A6BF-EF5DC17A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47625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2F4"/>
          </a:solidFill>
          <a:ln xmlns:a="http://schemas.openxmlformats.org/drawingml/2006/main" w="0">
            <a:solidFill>
              <a:srgbClr val="F0F2F4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9DBD0D98-CD0E-4404-A452-C263E106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46291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63B8"/>
          </a:solidFill>
          <a:ln xmlns:a="http://schemas.openxmlformats.org/drawingml/2006/main" w="0">
            <a:solidFill>
              <a:srgbClr val="8E63B8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F0AB5733-BF28-4CC0-80C0-1629BB93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0040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40.7×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AADA3B91-BBF4-489B-BAEE-53CBD17C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861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69737D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9737D"/>
                </a:solidFill>
                <a:latin typeface="Manrope"/>
                <a:ea typeface="Manrope"/>
                <a:cs typeface="Manrope"/>
              </a:rPr>
              <a:t>11.39/s  ·  75.6 s  ·  device util/HBM unavailable · 54 GB host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8CDEA0C6-08FF-493F-A4B6-2FE9B94B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104900"/>
            <a:ext cx="272415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4ED"/>
          </a:solidFill>
          <a:ln xmlns:a="http://schemas.openxmlformats.org/drawingml/2006/main" w="11430">
            <a:solidFill>
              <a:srgbClr val="BCD9C6"/>
            </a:solidFill>
            <a:prstDash val="solid"/>
          </a:ln>
        </p:spPr>
        <p:txBody>
          <a:bodyPr xmlns:a="http://schemas.openxmlformats.org/drawingml/2006/main" lIns="133350" tIns="13335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050" b="0">
                <a:solidFill>
                  <a:srgbClr val="1C1B1A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1C1B1A"/>
                </a:solidFill>
                <a:latin typeface="Manrope"/>
                <a:ea typeface="Manrope"/>
                <a:cs typeface="Manrope"/>
              </a:rPr>
              <a:t>CONCURRENT SERVING · c = 24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050" b="0">
                <a:solidFill>
                  <a:srgbClr val="1C1B1A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1C1B1A"/>
                </a:solidFill>
                <a:latin typeface="Manrope"/>
                <a:ea typeface="Manrope"/>
                <a:cs typeface="Manrope"/>
              </a:rPr>
              <a:t>A100  123.9/s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050" b="0">
                <a:solidFill>
                  <a:srgbClr val="1C1B1A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1C1B1A"/>
                </a:solidFill>
                <a:latin typeface="Manrope"/>
                <a:ea typeface="Manrope"/>
                <a:cs typeface="Manrope"/>
              </a:rPr>
              <a:t>$0.007 per 861 decisions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050" b="0">
                <a:solidFill>
                  <a:srgbClr val="1C1B1A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1C1B1A"/>
                </a:solidFill>
                <a:latin typeface="Manrope"/>
                <a:ea typeface="Manrope"/>
                <a:cs typeface="Manrope"/>
              </a:rPr>
              <a:t>TPU  98.4/s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050" b="0">
                <a:solidFill>
                  <a:srgbClr val="1C1B1A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1C1B1A"/>
                </a:solidFill>
                <a:latin typeface="Manrope"/>
                <a:ea typeface="Manrope"/>
                <a:cs typeface="Manrope"/>
              </a:rPr>
              <a:t>$0.023 per 861 decisions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050" b="0">
                <a:solidFill>
                  <a:srgbClr val="1C1B1A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1C1B1A"/>
                </a:solidFill>
                <a:latin typeface="Manrope"/>
                <a:ea typeface="Manrope"/>
                <a:cs typeface="Manrope"/>
              </a:rPr>
              <a:t>These are one-endpoint measurements. Add GKE runners/endpoints as queue depth grows; cluster throughput is bounded by quota and coordination overhead.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C842A678-C59C-45D7-A6F3-A3890BCA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27241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CE9E6"/>
          </a:solidFill>
          <a:ln xmlns:a="http://schemas.openxmlformats.org/drawingml/2006/main" w="11430">
            <a:solidFill>
              <a:srgbClr val="F1BDB6"/>
            </a:solidFill>
            <a:prstDash val="solid"/>
          </a:ln>
        </p:spPr>
        <p:txBody>
          <a:bodyPr xmlns:a="http://schemas.openxmlformats.org/drawingml/2006/main" lIns="114300" tIns="9525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975" b="0">
                <a:solidFill>
                  <a:srgbClr val="1C1B1A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1C1B1A"/>
                </a:solidFill>
                <a:latin typeface="Manrope"/>
                <a:ea typeface="Manrope"/>
                <a:cs typeface="Manrope"/>
              </a:rPr>
              <a:t>QUALITY GATE · ≈72% AGREEMENT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975" b="0">
                <a:solidFill>
                  <a:srgbClr val="1C1B1A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1C1B1A"/>
                </a:solidFill>
                <a:latin typeface="Manrope"/>
                <a:ea typeface="Manrope"/>
                <a:cs typeface="Manrope"/>
              </a:rPr>
              <a:t>Gemma 4B failed the practical grading bar.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975" b="0">
                <a:solidFill>
                  <a:srgbClr val="1C1B1A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1C1B1A"/>
                </a:solidFill>
                <a:latin typeface="Manrope"/>
                <a:ea typeface="Manrope"/>
                <a:cs typeface="Manrope"/>
              </a:rPr>
              <a:t>TA re-review overhead would erase the throughput benefit.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5E637DF4-FD0F-4B46-B9FA-2A6B27E5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807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69737D"/>
                </a:solidFill>
                <a:latin typeface="Manrope"/>
                <a:ea typeface="Manrope"/>
                <a:cs typeface="Manrope"/>
              </a:defRPr>
            </a:pPr>
            <a:r>
              <a:rPr sz="728" b="0">
                <a:solidFill>
                  <a:srgbClr val="69737D"/>
                </a:solidFill>
                <a:latin typeface="Manrope"/>
                <a:ea typeface="Manrope"/>
                <a:cs typeface="Manrope"/>
              </a:rPr>
              <a:t>Same 861-decision workload and configured merged-checkpoint path. CPU c=24 did not complete under memory/tunnel pressure. Costs are active-time list-price proxies; TPU device telemetry was unavailable.</a:t>
            </a:r>
          </a:p>
        </p:txBody>
      </p:sp>
    </p:spTree>
    <p:extLst>
      <p:ext uri="{BB962C8B-B14F-4D97-AF65-F5344CB8AC3E}">
        <p14:creationId xmlns:p14="http://schemas.microsoft.com/office/powerpoint/2010/main" val="772409131"/>
      </p:ext>
    </p:extLst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Kicker"/>
          <p:cNvSpPr txBox="1"/>
          <p:nvPr/>
        </p:nvSpPr>
        <p:spPr>
          <a:xfrm>
            <a:off x="400000" y="230000"/>
            <a:ext cx="8344000" cy="26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Bef>
                <a:spcPts val="300"/>
              </a:spcBef>
            </a:pPr>
            <a:r>
              <a:rPr lang="en-US" sz="1250" b="1" dirty="0">
                <a:solidFill>
                  <a:srgbClr val="1D6B3C"/>
                </a:solidFill>
                <a:latin typeface="Manrope"/>
              </a:rPr>
              <a:t>CONCLUSION</a:t>
            </a:r>
          </a:p>
        </p:txBody>
      </p:sp>
      <p:sp>
        <p:nvSpPr>
          <p:cNvPr id="102" name="Title"/>
          <p:cNvSpPr txBox="1"/>
          <p:nvPr/>
        </p:nvSpPr>
        <p:spPr>
          <a:xfrm>
            <a:off x="400000" y="500000"/>
            <a:ext cx="8344000" cy="38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Bef>
                <a:spcPts val="300"/>
              </a:spcBef>
            </a:pPr>
            <a:r>
              <a:rPr lang="en-US" sz="1800" b="1" dirty="0">
                <a:solidFill>
                  <a:srgbClr val="1C1B1A"/>
                </a:solidFill>
                <a:latin typeface="Manrope"/>
              </a:rPr>
              <a:t>What this project changed for Treemarks grading</a:t>
            </a:r>
          </a:p>
        </p:txBody>
      </p:sp>
      <p:sp>
        <p:nvSpPr>
          <p:cNvPr id="103" name="Takeaway1"/>
          <p:cNvSpPr txBox="1"/>
          <p:nvPr/>
        </p:nvSpPr>
        <p:spPr>
          <a:xfrm>
            <a:off x="400000" y="1030000"/>
            <a:ext cx="8344000" cy="64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Bef>
                <a:spcPts val="300"/>
              </a:spcBef>
            </a:pPr>
            <a:r>
              <a:rPr lang="en-US" sz="1200" b="1" dirty="0">
                <a:solidFill>
                  <a:srgbClr val="1C1B1A"/>
                </a:solidFill>
                <a:latin typeface="Manrope"/>
              </a:rPr>
              <a:t>From prototype to cloud.  </a:t>
            </a:r>
            <a:r>
              <a:rPr lang="en-US" sz="1100" b="0" dirty="0">
                <a:solidFill>
                  <a:srgbClr val="1C1B1A"/>
                </a:solidFill>
                <a:latin typeface="Manrope"/>
              </a:rPr>
              <a:t>A local prototype using local LLMs and frontier inference is now a hosted cloud solution running controlled ML experiments.</a:t>
            </a:r>
          </a:p>
        </p:txBody>
      </p:sp>
      <p:sp>
        <p:nvSpPr>
          <p:cNvPr id="104" name="Takeaway2"/>
          <p:cNvSpPr txBox="1"/>
          <p:nvPr/>
        </p:nvSpPr>
        <p:spPr>
          <a:xfrm>
            <a:off x="400000" y="1730000"/>
            <a:ext cx="8344000" cy="64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Bef>
                <a:spcPts val="300"/>
              </a:spcBef>
            </a:pPr>
            <a:r>
              <a:rPr lang="en-US" sz="1200" b="1" dirty="0">
                <a:solidFill>
                  <a:srgbClr val="1C1B1A"/>
                </a:solidFill>
                <a:latin typeface="Manrope"/>
              </a:rPr>
              <a:t>The feedback loop closes.  </a:t>
            </a:r>
            <a:r>
              <a:rPr lang="en-US" sz="1100" b="0" dirty="0">
                <a:solidFill>
                  <a:srgbClr val="1C1B1A"/>
                </a:solidFill>
                <a:latin typeface="Manrope"/>
              </a:rPr>
              <a:t>Grades typically take a week or more to come back. A tuned 27B endpoint grades a full class set in about 51 minutes, so students could plausibly wake up to feedback the next morning.</a:t>
            </a:r>
          </a:p>
        </p:txBody>
      </p:sp>
      <p:sp>
        <p:nvSpPr>
          <p:cNvPr id="105" name="Takeaway3"/>
          <p:cNvSpPr txBox="1"/>
          <p:nvPr/>
        </p:nvSpPr>
        <p:spPr>
          <a:xfrm>
            <a:off x="400000" y="2430000"/>
            <a:ext cx="8344000" cy="64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Bef>
                <a:spcPts val="300"/>
              </a:spcBef>
            </a:pPr>
            <a:r>
              <a:rPr lang="en-US" sz="1200" b="1" dirty="0">
                <a:solidFill>
                  <a:srgbClr val="1C1B1A"/>
                </a:solidFill>
                <a:latin typeface="Manrope"/>
              </a:rPr>
              <a:t>The model lesson.  </a:t>
            </a:r>
            <a:r>
              <a:rPr lang="en-US" sz="1100" b="0" dirty="0">
                <a:solidFill>
                  <a:srgbClr val="1C1B1A"/>
                </a:solidFill>
                <a:latin typeface="Manrope"/>
              </a:rPr>
              <a:t>Fine-tuning lifted the 27B's agreement 12 points, to parity with frontier models, at about 1/9 the serving cost, stable across five seeds. Gemma is a real candidate for grading going forward; the small 4B stays below the quality bar.</a:t>
            </a:r>
          </a:p>
        </p:txBody>
      </p:sp>
      <p:sp>
        <p:nvSpPr>
          <p:cNvPr id="106" name="Takeaway4"/>
          <p:cNvSpPr txBox="1"/>
          <p:nvPr/>
        </p:nvSpPr>
        <p:spPr>
          <a:xfrm>
            <a:off x="400000" y="3130000"/>
            <a:ext cx="8344000" cy="64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Bef>
                <a:spcPts val="300"/>
              </a:spcBef>
            </a:pPr>
            <a:r>
              <a:rPr lang="en-US" sz="1200" b="1" dirty="0">
                <a:solidFill>
                  <a:srgbClr val="1C1B1A"/>
                </a:solidFill>
                <a:latin typeface="Manrope"/>
              </a:rPr>
              <a:t>The operating rule.  </a:t>
            </a:r>
            <a:r>
              <a:rPr lang="en-US" sz="1100" b="0" dirty="0">
                <a:solidFill>
                  <a:srgbClr val="1C1B1A"/>
                </a:solidFill>
                <a:latin typeface="Manrope"/>
              </a:rPr>
              <a:t>Meet the grading-quality bar first, then pick the smallest system that returns work within 24 hours, then minimize cost.</a:t>
            </a:r>
          </a:p>
        </p:txBody>
      </p:sp>
      <p:sp>
        <p:nvSpPr>
          <p:cNvPr id="107" name="Limits"/>
          <p:cNvSpPr txBox="1"/>
          <p:nvPr/>
        </p:nvSpPr>
        <p:spPr>
          <a:xfrm>
            <a:off x="400000" y="3890000"/>
            <a:ext cx="8344000" cy="3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Bef>
                <a:spcPts val="300"/>
              </a:spcBef>
            </a:pPr>
            <a:r>
              <a:rPr lang="en-US" sz="1000" b="0" dirty="0">
                <a:solidFill>
                  <a:srgbClr val="616973"/>
                </a:solidFill>
                <a:latin typeface="Manrope"/>
              </a:rPr>
              <a:t>What limited us: unbatched 27B serving, accelerator memory, and storage startup pressure, each measured and mitigated in the report.</a:t>
            </a:r>
          </a:p>
        </p:txBody>
      </p:sp>
      <p:sp>
        <p:nvSpPr>
          <p:cNvPr id="108" name="Next"/>
          <p:cNvSpPr txBox="1"/>
          <p:nvPr/>
        </p:nvSpPr>
        <p:spPr>
          <a:xfrm>
            <a:off x="400000" y="4250000"/>
            <a:ext cx="8344000" cy="32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Bef>
                <a:spcPts val="300"/>
              </a:spcBef>
            </a:pPr>
            <a:r>
              <a:rPr lang="en-US" sz="1050" b="1" dirty="0">
                <a:solidFill>
                  <a:srgbClr val="1D6B3C"/>
                </a:solidFill>
                <a:latin typeface="Manrope"/>
              </a:rPr>
              <a:t>NEXT  </a:t>
            </a:r>
            <a:r>
              <a:rPr lang="en-US" sz="1000" b="0" dirty="0">
                <a:solidFill>
                  <a:srgbClr val="1C1B1A"/>
                </a:solidFill>
                <a:latin typeface="Manrope"/>
              </a:rPr>
              <a:t>Batch the 27B endpoint · profile the 27B on TPU · test transfer to unseen questions · compare tuning economics with frontier inference.</a:t>
            </a:r>
          </a:p>
        </p:txBody>
      </p:sp>
    </p:spTree>
    <p:extLst>
      <p:ext uri="{BB962C8B-B14F-4D97-AF65-F5344CB8AC3E}">
        <p14:creationId xmlns:p14="http://schemas.microsoft.com/office/powerpoint/2010/main" val="1588868694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2026-08-15T04:39:31.6100000Z</dcterms:created>
  <dcterms:modified xsi:type="dcterms:W3CDTF">2026-08-15T04:39:31.6110000Z</dcterms:modified>
</coreProperties>
</file>