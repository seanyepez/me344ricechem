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TitleName"/>
          <p:cNvSpPr txBox="1"/>
          <p:nvPr/>
        </p:nvSpPr>
        <p:spPr>
          <a:xfrm>
            <a:off x="400000" y="230000"/>
            <a:ext cx="8344000" cy="4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900" b="1" dirty="0">
                <a:solidFill>
                  <a:srgbClr val="1C1B1A"/>
                </a:solidFill>
                <a:latin typeface="Manrope"/>
              </a:rPr>
              <a:t>Sean Yépez · ME344 Summer 2026 · Final Project, Option 2</a:t>
            </a:r>
          </a:p>
        </p:txBody>
      </p:sp>
      <p:sp>
        <p:nvSpPr>
          <p:cNvPr id="102" name="RepoLink"/>
          <p:cNvSpPr txBox="1"/>
          <p:nvPr/>
        </p:nvSpPr>
        <p:spPr>
          <a:xfrm>
            <a:off x="400000" y="62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2e7146ba0b0431e"/>
              </a:rPr>
              <a:t>↗ github.com/seanyepez/me344ricechem</a:t>
            </a:r>
          </a:p>
        </p:txBody>
      </p:sp>
      <p:sp>
        <p:nvSpPr>
          <p:cNvPr id="103" name="ProblemHead"/>
          <p:cNvSpPr txBox="1"/>
          <p:nvPr/>
        </p:nvSpPr>
        <p:spPr>
          <a:xfrm>
            <a:off x="400000" y="970000"/>
            <a:ext cx="6200000" cy="34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600" b="1" dirty="0">
                <a:solidFill>
                  <a:srgbClr val="1C1B1A"/>
                </a:solidFill>
                <a:latin typeface="Manrope"/>
              </a:rPr>
              <a:t>Problem: grading consumes the time meant for teaching</a:t>
            </a:r>
          </a:p>
        </p:txBody>
      </p:sp>
      <p:sp>
        <p:nvSpPr>
          <p:cNvPr id="104" name="ProblemBody"/>
          <p:cNvSpPr txBox="1"/>
          <p:nvPr/>
        </p:nvSpPr>
        <p:spPr>
          <a:xfrm>
            <a:off x="400000" y="1370000"/>
            <a:ext cx="6100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50" b="0" dirty="0">
                <a:solidFill>
                  <a:srgbClr val="1C1B1A"/>
                </a:solidFill>
                <a:latin typeface="Manrope"/>
              </a:rPr>
              <a:t>I love teaching, but for every 8 hours I spend teaching, 7 go to grading. I want to invert that ratio. Treemarks is my AI grading system for STEM classes: every decision checked against a rubric tied to the underlying logic, physics, and math.</a:t>
            </a:r>
          </a:p>
        </p:txBody>
      </p:sp>
      <p:sp>
        <p:nvSpPr>
          <p:cNvPr id="105" name="Flow"/>
          <p:cNvSpPr txBox="1"/>
          <p:nvPr/>
        </p:nvSpPr>
        <p:spPr>
          <a:xfrm>
            <a:off x="400000" y="2020000"/>
            <a:ext cx="6100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0" dirty="0">
                <a:solidFill>
                  <a:srgbClr val="616973"/>
                </a:solidFill>
                <a:latin typeface="Manrope"/>
              </a:rPr>
              <a:t>AI checks every rubric decision → the TA reviews uncertain cases → students receive feedback sooner</a:t>
            </a:r>
          </a:p>
        </p:txBody>
      </p:sp>
      <p:sp>
        <p:nvSpPr>
          <p:cNvPr id="106" name="RCHead"/>
          <p:cNvSpPr txBox="1"/>
          <p:nvPr/>
        </p:nvSpPr>
        <p:spPr>
          <a:xfrm>
            <a:off x="400000" y="2450000"/>
            <a:ext cx="8344000" cy="2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RICECHEM · THE SUPERVISED BENCHMARK</a:t>
            </a:r>
          </a:p>
        </p:txBody>
      </p:sp>
      <p:sp>
        <p:nvSpPr>
          <p:cNvPr id="107" name="RCBody"/>
          <p:cNvSpPr txBox="1"/>
          <p:nvPr/>
        </p:nvSpPr>
        <p:spPr>
          <a:xfrm>
            <a:off x="400000" y="2740000"/>
            <a:ext cx="8344000" cy="5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100" b="0" dirty="0">
                <a:solidFill>
                  <a:srgbClr val="1C1B1A"/>
                </a:solidFill>
                <a:latin typeface="Manrope"/>
              </a:rPr>
              <a:t>RiceChem is the benchmark recent papers use: a chemistry exam graded against instructor rubrics. 1,264 responses · 4 questions · 27 rubric items → 8,392 TA-labeled TRUE/FALSE decisions. Agreement is measured against the TA's labeling.</a:t>
            </a:r>
          </a:p>
        </p:txBody>
      </p:sp>
      <p:sp>
        <p:nvSpPr>
          <p:cNvPr id="108" name="Papers"/>
          <p:cNvSpPr txBox="1"/>
          <p:nvPr/>
        </p:nvSpPr>
        <p:spPr>
          <a:xfrm>
            <a:off x="400000" y="3340000"/>
            <a:ext cx="8344000" cy="7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introduces RiceChem and rubric-based grading of long-form answers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Autorubric, rubric-based LLM evaluation</a:t>
            </a:r>
          </a:p>
          <a:p>
            <a:pPr>
              <a:spcBef>
                <a:spcPts val="300"/>
              </a:spcBef>
            </a:pPr>
            <a:r>
              <a:rPr lang="en-US" sz="1000" b="0" dirty="0">
                <a:solidFill>
                  <a:srgbClr val="1C1B1A"/>
                </a:solidFill>
                <a:latin typeface="Manrope"/>
              </a:rPr>
              <a:t>•  </a:t>
            </a:r>
            <a:r>
              <a:rPr lang="en-US" sz="1000" b="1" dirty="0">
                <a:solidFill>
                  <a:srgbClr val="1D6B3C"/>
                </a:solidFill>
                <a:latin typeface="Manrope"/>
                <a:hlinkClick xmlns:r="http://schemas.openxmlformats.org/officeDocument/2006/relationships" r:id="R04d355e6e6f74b1a"/>
              </a:rPr>
              <a:t>Ferrer et al. (2026)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 · when to trust LLM graders</a:t>
            </a:r>
          </a:p>
        </p:txBody>
      </p:sp>
      <p:sp>
        <p:nvSpPr>
          <p:cNvPr id="109" name="RQHead"/>
          <p:cNvSpPr txBox="1"/>
          <p:nvPr/>
        </p:nvSpPr>
        <p:spPr>
          <a:xfrm>
            <a:off x="400000" y="416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RESEARCH QUESTIONS</a:t>
            </a:r>
          </a:p>
        </p:txBody>
      </p:sp>
      <p:sp>
        <p:nvSpPr>
          <p:cNvPr id="110" name="RQs"/>
          <p:cNvSpPr txBox="1"/>
          <p:nvPr/>
        </p:nvSpPr>
        <p:spPr>
          <a:xfrm>
            <a:off x="400000" y="4430000"/>
            <a:ext cx="8344000" cy="68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RQ1 · Quality: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can tuning make a local model accurate enough for rubric grading?</a:t>
            </a:r>
          </a:p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RQ2 · Systems: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how do CPU, GPU, and TPU change latency, throughput, and utilization?</a:t>
            </a:r>
          </a:p>
          <a:p>
            <a:pPr>
              <a:spcBef>
                <a:spcPts val="300"/>
              </a:spcBef>
            </a:pPr>
            <a:r>
              <a:rPr lang="en-US" sz="1000" b="1" dirty="0">
                <a:solidFill>
                  <a:srgbClr val="1C1B1A"/>
                </a:solidFill>
                <a:latin typeface="Manrope"/>
              </a:rPr>
              <a:t>RQ3 · Operations: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which configuration meets the quality bar in under 24 hours at lowest cost?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0000" y="820000"/>
            <a:ext cx="2000000" cy="1581600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11" name="PhotoCredit"/>
          <p:cNvSpPr txBox="1"/>
          <p:nvPr/>
        </p:nvSpPr>
        <p:spPr>
          <a:xfrm>
            <a:off x="6760000" y="2420000"/>
            <a:ext cx="2000000" cy="2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800" b="0" dirty="0">
                <a:solidFill>
                  <a:srgbClr val="616973"/>
                </a:solidFill>
                <a:latin typeface="Manrope"/>
              </a:rPr>
              <a:t>Sean Yépez · Dr. Mourad Bouache · Google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and run a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EXPERIMENT DESIGN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2EC4A3-F324-4906-8807-38E4E51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803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65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Validation picks the checkpoint. The test set is opened once, at the end.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 across three kinds of compute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rubric decisions from the RiceChem test split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15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5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3693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12.8% duty · 10.2 GiB HBM/chip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QUALITY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 4B agrees only ≈72% of the time, below the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Speed alone does not make it deployable.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captured with tpu-info (libtpu).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Kicker"/>
          <p:cNvSpPr txBox="1"/>
          <p:nvPr/>
        </p:nvSpPr>
        <p:spPr>
          <a:xfrm>
            <a:off x="400000" y="230000"/>
            <a:ext cx="8344000" cy="26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50" b="1" dirty="0">
                <a:solidFill>
                  <a:srgbClr val="1D6B3C"/>
                </a:solidFill>
                <a:latin typeface="Manrope"/>
              </a:rPr>
              <a:t>CONCLUSION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400000" y="50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800" b="1" dirty="0">
                <a:solidFill>
                  <a:srgbClr val="1C1B1A"/>
                </a:solidFill>
                <a:latin typeface="Manrope"/>
              </a:rPr>
              <a:t>What ME344 changed for AI grading at Stanford Civil Engineering</a:t>
            </a:r>
          </a:p>
        </p:txBody>
      </p:sp>
      <p:sp>
        <p:nvSpPr>
          <p:cNvPr id="103" name="Takeaway1"/>
          <p:cNvSpPr txBox="1"/>
          <p:nvPr/>
        </p:nvSpPr>
        <p:spPr>
          <a:xfrm>
            <a:off x="400000" y="118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From local prototype to cloud-hosted.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At the start of the course, grading ran on a student laptop. Now inference runs in a hosted Google Cloud solution, with controlled ML experiments testing subject-specific models.</a:t>
            </a:r>
          </a:p>
        </p:txBody>
      </p:sp>
      <p:sp>
        <p:nvSpPr>
          <p:cNvPr id="104" name="Takeaway2"/>
          <p:cNvSpPr txBox="1"/>
          <p:nvPr/>
        </p:nvSpPr>
        <p:spPr>
          <a:xfrm>
            <a:off x="400000" y="186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Throughput closes the feedback loop.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Without local-LLM limits and with room to scale, grades that typically take a TA a week or more could come back as fast as the next morning.</a:t>
            </a:r>
          </a:p>
        </p:txBody>
      </p:sp>
      <p:sp>
        <p:nvSpPr>
          <p:cNvPr id="105" name="Takeaway3"/>
          <p:cNvSpPr txBox="1"/>
          <p:nvPr/>
        </p:nvSpPr>
        <p:spPr>
          <a:xfrm>
            <a:off x="400000" y="254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Quality gates model usage.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Smaller models do not offer the accuracy grading needs: at roughly 72% agreement, TAs would re-review too much. The fine-tuned 27B reached 83%, competitive with frontier models at about 1/9 the serving cost.</a:t>
            </a:r>
          </a:p>
        </p:txBody>
      </p:sp>
      <p:sp>
        <p:nvSpPr>
          <p:cNvPr id="106" name="Takeaway4"/>
          <p:cNvSpPr txBox="1"/>
          <p:nvPr/>
        </p:nvSpPr>
        <p:spPr>
          <a:xfrm>
            <a:off x="400000" y="3220000"/>
            <a:ext cx="8344000" cy="6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200" b="1" dirty="0">
                <a:solidFill>
                  <a:srgbClr val="1C1B1A"/>
                </a:solidFill>
                <a:latin typeface="Manrope"/>
              </a:rPr>
              <a:t>The operating rule.  </a:t>
            </a:r>
            <a:r>
              <a:rPr lang="en-US" sz="1100" b="0" dirty="0">
                <a:solidFill>
                  <a:srgbClr val="1C1B1A"/>
                </a:solidFill>
                <a:latin typeface="Manrope"/>
              </a:rPr>
              <a:t>Among graders whose accuracy and throughput meet the standard, choose the cheapest.</a:t>
            </a:r>
          </a:p>
        </p:txBody>
      </p:sp>
      <p:sp>
        <p:nvSpPr>
          <p:cNvPr id="107" name="Next"/>
          <p:cNvSpPr txBox="1"/>
          <p:nvPr/>
        </p:nvSpPr>
        <p:spPr>
          <a:xfrm>
            <a:off x="400000" y="4020000"/>
            <a:ext cx="8344000" cy="32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spcBef>
                <a:spcPts val="300"/>
              </a:spcBef>
            </a:pPr>
            <a:r>
              <a:rPr lang="en-US" sz="1050" b="1" dirty="0">
                <a:solidFill>
                  <a:srgbClr val="1D6B3C"/>
                </a:solidFill>
                <a:latin typeface="Manrope"/>
              </a:rPr>
              <a:t>NEXT  </a:t>
            </a:r>
            <a:r>
              <a:rPr lang="en-US" sz="1000" b="0" dirty="0">
                <a:solidFill>
                  <a:srgbClr val="1C1B1A"/>
                </a:solidFill>
                <a:latin typeface="Manrope"/>
              </a:rPr>
              <a:t>Serve the 27B on TPU · test transfer to unseen questions · estimate the economics of training custom models versus frontier inference.</a:t>
            </a: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