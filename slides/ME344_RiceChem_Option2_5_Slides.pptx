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028b48c1a54f92" /><Relationship Type="http://schemas.openxmlformats.org/officeDocument/2006/relationships/extended-properties" Target="/docProps/app.xml" Id="R0716736321ca4d0d" /><Relationship Type="http://schemas.openxmlformats.org/officeDocument/2006/relationships/officeDocument" Target="/ppt/presentation.xml" Id="Rf5e6d4bff97041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f28a20265b4f93"/>
  </p:sldMasterIdLst>
  <p:notesMasterIdLst>
    <p:notesMasterId xmlns:r="http://schemas.openxmlformats.org/officeDocument/2006/relationships" r:id="R478d1070d880405d"/>
  </p:notesMasterIdLst>
  <p:sldIdLst>
    <p:sldId xmlns:r="http://schemas.openxmlformats.org/officeDocument/2006/relationships" id="256" r:id="R4a3a9cb0b1b248a5"/>
    <p:sldId xmlns:r="http://schemas.openxmlformats.org/officeDocument/2006/relationships" id="257" r:id="R428aad0d6b1f4633"/>
    <p:sldId xmlns:r="http://schemas.openxmlformats.org/officeDocument/2006/relationships" id="258" r:id="R0b5ee0a06c71490b"/>
    <p:sldId xmlns:r="http://schemas.openxmlformats.org/officeDocument/2006/relationships" id="259" r:id="Rf29a9b542edd4078"/>
    <p:sldId xmlns:r="http://schemas.openxmlformats.org/officeDocument/2006/relationships" id="260" r:id="Rad34d3bb551e481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8b17d16a614176" /><Relationship Type="http://schemas.openxmlformats.org/officeDocument/2006/relationships/slideMaster" Target="/ppt/slideMasters/slideMaster1.xml" Id="R87f28a20265b4f93" /><Relationship Type="http://schemas.openxmlformats.org/officeDocument/2006/relationships/notesMaster" Target="/ppt/notesMasters/notesMaster1.xml" Id="R478d1070d880405d" /><Relationship Type="http://schemas.openxmlformats.org/officeDocument/2006/relationships/presProps" Target="/ppt/presProps.xml" Id="R19b17a7b9cff4ca8" /><Relationship Type="http://schemas.openxmlformats.org/officeDocument/2006/relationships/tableStyles" Target="/ppt/tableStyles.xml" Id="R27113298996c4261" /><Relationship Type="http://schemas.openxmlformats.org/officeDocument/2006/relationships/slide" Target="/ppt/slides/slide1.xml" Id="R4a3a9cb0b1b248a5" /><Relationship Type="http://schemas.openxmlformats.org/officeDocument/2006/relationships/slide" Target="/ppt/slides/slide2.xml" Id="R428aad0d6b1f4633" /><Relationship Type="http://schemas.openxmlformats.org/officeDocument/2006/relationships/slide" Target="/ppt/slides/slide3.xml" Id="R0b5ee0a06c71490b" /><Relationship Type="http://schemas.openxmlformats.org/officeDocument/2006/relationships/slide" Target="/ppt/slides/slide4.xml" Id="Rf29a9b542edd4078" /><Relationship Type="http://schemas.openxmlformats.org/officeDocument/2006/relationships/slide" Target="/ppt/slides/slide5.xml" Id="Rad34d3bb551e48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34195f753e448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3e25d5f957475a" /><Relationship Type="http://schemas.openxmlformats.org/officeDocument/2006/relationships/notesMaster" Target="/ppt/notesMasters/notesMaster1.xml" Id="R1826bfb15ec445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2961eee01742e1" /><Relationship Type="http://schemas.openxmlformats.org/officeDocument/2006/relationships/notesMaster" Target="/ppt/notesMasters/notesMaster1.xml" Id="R2db097fae9e54d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2ba07941ce740bf" /><Relationship Type="http://schemas.openxmlformats.org/officeDocument/2006/relationships/notesMaster" Target="/ppt/notesMasters/notesMaster1.xml" Id="R1367d0f0d98b47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053bb3126c24a15" /><Relationship Type="http://schemas.openxmlformats.org/officeDocument/2006/relationships/notesMaster" Target="/ppt/notesMasters/notesMaster1.xml" Id="R164c3d95a8d84c1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60180d943e403d" /><Relationship Type="http://schemas.openxmlformats.org/officeDocument/2006/relationships/notesMaster" Target="/ppt/notesMasters/notesMaster1.xml" Id="Ra1bdef597097437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Sonkar et al. (2024), arXiv:2404.14316.</a:t>
            </a:r>
          </a:p>
          <a:p xmlns:a="http://schemas.openxmlformats.org/drawingml/2006/main">
            <a:r>
              <a:t>- Aggregate split receipts in results/results_report.json.</a:t>
            </a:r>
          </a:p>
          <a:p xmlns:a="http://schemas.openxmlformats.org/drawingml/2006/main">
            <a:r>
              <a:t>- 7–8 hour grading estimate supplied by the project author.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Google Tunix: https://github.com/google/tunix.</a:t>
            </a:r>
          </a:p>
          <a:p xmlns:a="http://schemas.openxmlformats.org/drawingml/2006/main">
            <a:r>
              <a:t>- vLLM TPU docs: https://docs.vllm.ai/projects/tpu/en/latest/.</a:t>
            </a:r>
          </a:p>
          <a:p xmlns:a="http://schemas.openxmlformats.org/drawingml/2006/main">
            <a:r>
              <a:t>- Public manifests and methodology in this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Aggregate experiment receipts in results/results_report.json and results/pareto_data.json.</a:t>
            </a:r>
          </a:p>
          <a:p xmlns:a="http://schemas.openxmlformats.org/drawingml/2006/main">
            <a:r>
              <a:t>- Hardware comparison contract in docs/methodology.md.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Training receipts: results/training_timing_gpu.json and results/training_timing_tpu.json.</a:t>
            </a:r>
          </a:p>
          <a:p xmlns:a="http://schemas.openxmlformats.org/drawingml/2006/main">
            <a:r>
              <a:t>- Serving aggregates: results/results_report.json.</a:t>
            </a:r>
          </a:p>
          <a:p xmlns:a="http://schemas.openxmlformats.org/drawingml/2006/main">
            <a:r>
              <a:t>- CPU value intentionally omitted until the authorized full 861-decision run completes.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Aggregate chart input: results/pareto_data.json.</a:t>
            </a:r>
          </a:p>
          <a:p xmlns:a="http://schemas.openxmlformats.org/drawingml/2006/main">
            <a:r>
              <a:t>- Paired statistics: results/results_report.json.</a:t>
            </a:r>
          </a:p>
          <a:p xmlns:a="http://schemas.openxmlformats.org/drawingml/2006/main">
            <a:r>
              <a:t>- Sonkar et al. (2024), arXiv:2404.14316, published 86.8% reference 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0054acd2b94b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b7b9e2860146a8" /><Relationship Type="http://schemas.openxmlformats.org/officeDocument/2006/relationships/slideLayout" Target="/ppt/slideLayouts/slideLayout1.xml" Id="R7cdb8d60cac242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db8d60cac242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28d58f7f774a71" /><Relationship Type="http://schemas.openxmlformats.org/officeDocument/2006/relationships/notesSlide" Target="/ppt/notesSlides/notesSlide1.xml" Id="R02a9b5a6b52444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9d7985ff3b45ed" /><Relationship Type="http://schemas.openxmlformats.org/officeDocument/2006/relationships/notesSlide" Target="/ppt/notesSlides/notesSlide2.xml" Id="Rd481fc138f8549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a6e9f1687f4b89" /><Relationship Type="http://schemas.openxmlformats.org/officeDocument/2006/relationships/notesSlide" Target="/ppt/notesSlides/notesSlide3.xml" Id="R9c79c245559c4c9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84df43e0a345fb" /><Relationship Type="http://schemas.openxmlformats.org/officeDocument/2006/relationships/chart" Target="/ppt/slides/charts/chart1.xml" Id="R27ed1be90ca2464f" /><Relationship Type="http://schemas.openxmlformats.org/officeDocument/2006/relationships/notesSlide" Target="/ppt/notesSlides/notesSlide4.xml" Id="R9ee3a5a6c6f34b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0266ec287a4f28" /><Relationship Type="http://schemas.openxmlformats.org/officeDocument/2006/relationships/image" Target="/ppt/media/image.png" Id="R4bf8290713cc462a" /><Relationship Type="http://schemas.openxmlformats.org/officeDocument/2006/relationships/notesSlide" Target="/ppt/notesSlides/notesSlide5.xml" Id="R335070ef39c048d8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Decisions / second</c:v>
          </c:tx>
          <c:spPr>
            <a:solidFill xmlns:a="http://schemas.openxmlformats.org/drawingml/2006/main">
              <a:srgbClr val="4285F4"/>
            </a:solidFill>
          </c:spPr>
          <c:dPt>
            <c:idx val="1"/>
            <c:invertIfNegative val="0"/>
            <c:spPr>
              <a:solidFill xmlns:a="http://schemas.openxmlformats.org/drawingml/2006/main">
                <a:srgbClr val="168C63"/>
              </a:solidFill>
            </c:spPr>
          </c:dPt>
          <c:cat>
            <c:strLit>
              <c:ptCount val="2"/>
              <c:pt idx="0">
                <c:v>A100 GPU</c:v>
              </c:pt>
              <c:pt idx="1">
                <c:v>TPU v5e-8</c:v>
              </c:pt>
            </c:strLit>
          </c:cat>
          <c:val>
            <c:numLit>
              <c:formatCode>General</c:formatCode>
              <c:ptCount val="2"/>
              <c:pt idx="0">
                <c:v>50.7</c:v>
              </c:pt>
              <c:pt idx="1">
                <c:v>73.3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20212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ED9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Serving throughput (decisions / second)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E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B728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E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2124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1F6D5D-ABE9-4DA1-9758-6B0DFE7A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D6B3C"/>
                </a:solidFill>
              </a:defRPr>
            </a:pPr>
            <a:r>
              <a:rPr sz="1050" b="1">
                <a:solidFill>
                  <a:srgbClr val="1D6B3C"/>
                </a:solidFill>
              </a:rPr>
              <a:t>1 ·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4A11BD-453A-4FBF-ADDB-476290D9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02124"/>
                </a:solidFill>
              </a:defRPr>
            </a:pPr>
            <a:r>
              <a:rPr sz="3150" b="1">
                <a:solidFill>
                  <a:srgbClr val="202124"/>
                </a:solidFill>
              </a:rPr>
              <a:t>Can fine-tuned Gemma match frontier graders?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0D6FB4-2569-46F3-9F17-6F1748A1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B7280"/>
                </a:solidFill>
              </a:defRPr>
            </a:pPr>
            <a:r>
              <a:rPr sz="1575">
                <a:solidFill>
                  <a:srgbClr val="6B7280"/>
                </a:solidFill>
              </a:rPr>
              <a:t>RiceChem turns grading into a supervised systems experiment.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053277-514C-4999-81D2-75A7BCE6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A9290"/>
                </a:solidFill>
              </a:defRPr>
            </a:pPr>
            <a:r>
              <a:rPr sz="825">
                <a:solidFill>
                  <a:srgbClr val="8A9290"/>
                </a:solidFill>
              </a:rPr>
              <a:t>ME344 · Option 2 · Sean Yépez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3D9FD9-13D4-431D-A166-F8F7239D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99756B-A2D1-414B-B0CB-1A9EE9336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95500"/>
            <a:ext cx="453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202124"/>
                </a:solidFill>
              </a:defRPr>
            </a:pPr>
            <a:r>
              <a:rPr sz="1575">
                <a:solidFill>
                  <a:srgbClr val="202124"/>
                </a:solidFill>
              </a:rPr>
              <a:t>Manual grading can absorb 7–8 hours for one assignment.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E94E8C-190D-473F-B236-D8641478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6018DE-8EF5-4A1D-8C87-4DD89666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86075"/>
            <a:ext cx="453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202124"/>
                </a:solidFill>
              </a:defRPr>
            </a:pPr>
            <a:r>
              <a:rPr sz="1575">
                <a:solidFill>
                  <a:srgbClr val="202124"/>
                </a:solidFill>
              </a:rPr>
              <a:t>Frontier APIs can be accurate, but cost, privacy, and throughput complicate institutional use.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F2AD0C-D26D-49CF-AA2A-BA239284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852F21-10D5-4D31-95A6-CDE20A29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67150"/>
            <a:ext cx="453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202124"/>
                </a:solidFill>
              </a:defRPr>
            </a:pPr>
            <a:r>
              <a:rPr sz="1575">
                <a:solidFill>
                  <a:srgbClr val="202124"/>
                </a:solidFill>
              </a:rPr>
              <a:t>The target is TA agreement on a frozen, human-labeled benchmark—not autonomous grading of record.</a:t>
            </a:r>
          </a:p>
        </p:txBody>
      </p:sp>
      <p:sp>
        <p:nvSpPr>
          <p:cNvPr id="11" name="supervised-task">
            <a:extLst xmlns:a="http://schemas.openxmlformats.org/drawingml/2006/main">
              <a:ext uri="{FF2B5EF4-FFF2-40B4-BE49-F238E27FC236}">
                <a16:creationId xmlns:a16="http://schemas.microsoft.com/office/drawing/2014/main" id="{3A5FCD12-9337-47FD-BCCB-DE284406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71675"/>
            <a:ext cx="4933950" cy="3219450"/>
          </a:xfrm>
          <a:prstGeom xmlns:a="http://schemas.openxmlformats.org/drawingml/2006/main" prst="roundRect">
            <a:avLst>
              <a:gd name="adj" fmla="val 4734"/>
            </a:avLst>
          </a:prstGeom>
          <a:solidFill xmlns:a="http://schemas.openxmlformats.org/drawingml/2006/main">
            <a:srgbClr val="F7F9F7"/>
          </a:solidFill>
          <a:ln xmlns:a="http://schemas.openxmlformats.org/drawingml/2006/main" w="14288">
            <a:solidFill>
              <a:srgbClr val="D7DE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3BE88F-3AB4-4B49-AB68-D380496B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95525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D6B3C"/>
                </a:solidFill>
              </a:defRPr>
            </a:pPr>
            <a:r>
              <a:rPr sz="4050" b="1">
                <a:solidFill>
                  <a:srgbClr val="1D6B3C"/>
                </a:solidFill>
              </a:rPr>
              <a:t>8,392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CAB14B-4344-4D89-9307-E22EFC07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9146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02124"/>
                </a:solidFill>
              </a:defRPr>
            </a:pPr>
            <a:r>
              <a:rPr sz="1650" b="1">
                <a:solidFill>
                  <a:srgbClr val="202124"/>
                </a:solidFill>
              </a:rPr>
              <a:t>labeled rubric decisions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6A6009-82EC-4AE8-B7E3-0A5D9BE0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52800"/>
            <a:ext cx="3924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B7280"/>
                </a:solidFill>
              </a:defRPr>
            </a:pPr>
            <a:r>
              <a:rPr sz="1350">
                <a:solidFill>
                  <a:srgbClr val="6B7280"/>
                </a:solidFill>
              </a:rPr>
              <a:t>6,700 train  ·  831 validation  ·  861 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097D15-0A6A-4B9C-8A51-3981BE2B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8622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4285F4"/>
                </a:solidFill>
              </a:defRPr>
            </a:pPr>
            <a:r>
              <a:rPr sz="1500" b="1">
                <a:solidFill>
                  <a:srgbClr val="4285F4"/>
                </a:solidFill>
              </a:rPr>
              <a:t>student answer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6F2513-BBD3-47FC-AF63-B0ED7CC2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0576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B7280"/>
                </a:solidFill>
              </a:defRPr>
            </a:pPr>
            <a:r>
              <a:rPr sz="1800" b="1">
                <a:solidFill>
                  <a:srgbClr val="6B7280"/>
                </a:solidFill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480BCF-669E-4841-AE48-424A51D5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0862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8683A"/>
                </a:solidFill>
              </a:defRPr>
            </a:pPr>
            <a:r>
              <a:rPr sz="1500" b="1">
                <a:solidFill>
                  <a:srgbClr val="E8683A"/>
                </a:solidFill>
              </a:rPr>
              <a:t>rubric item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F9C0F9-DF44-487E-BB58-73D8A2550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62475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02124"/>
                </a:solidFill>
              </a:defRPr>
            </a:pPr>
            <a:r>
              <a:rPr sz="1500" b="1">
                <a:solidFill>
                  <a:srgbClr val="202124"/>
                </a:solidFill>
              </a:rPr>
              <a:t>→   TRUE / FALSE   →   agreement with the TA</a:t>
            </a:r>
          </a:p>
        </p:txBody>
      </p:sp>
    </p:spTree>
    <p:extLst>
      <p:ext uri="{BB962C8B-B14F-4D97-AF65-F5344CB8AC3E}">
        <p14:creationId xmlns:p14="http://schemas.microsoft.com/office/powerpoint/2010/main" val="2695215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510601-9918-455E-BE0D-B15180C4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D6B3C"/>
                </a:solidFill>
              </a:defRPr>
            </a:pPr>
            <a:r>
              <a:rPr sz="1050" b="1">
                <a:solidFill>
                  <a:srgbClr val="1D6B3C"/>
                </a:solidFill>
              </a:rPr>
              <a:t>2 · PROPOSAL / SOLUTIONS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2B7297-31AA-4AC7-895B-B2D24F90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02124"/>
                </a:solidFill>
              </a:defRPr>
            </a:pPr>
            <a:r>
              <a:rPr sz="3150" b="1">
                <a:solidFill>
                  <a:srgbClr val="202124"/>
                </a:solidFill>
              </a:rPr>
              <a:t>Fine-tune Gemma, then isolate the systems trade-offs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0D6497-BAD2-4F4E-A329-61BF635B2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B7280"/>
                </a:solidFill>
              </a:defRPr>
            </a:pPr>
            <a:r>
              <a:rPr sz="1575">
                <a:solidFill>
                  <a:srgbClr val="6B7280"/>
                </a:solidFill>
              </a:rPr>
              <a:t>A reproducible workflow keeps the test set frozen and the serving path private.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E8233C-A87F-4D31-A80B-623CF2B9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A9290"/>
                </a:solidFill>
              </a:defRPr>
            </a:pPr>
            <a:r>
              <a:rPr sz="825">
                <a:solidFill>
                  <a:srgbClr val="8A9290"/>
                </a:solidFill>
              </a:rPr>
              <a:t>ME344 · Option 2 · Sean Yépez</a:t>
            </a:r>
          </a:p>
        </p:txBody>
      </p:sp>
      <p:sp>
        <p:nvSpPr>
          <p:cNvPr id="5" name="step-1">
            <a:extLst xmlns:a="http://schemas.openxmlformats.org/drawingml/2006/main">
              <a:ext uri="{FF2B5EF4-FFF2-40B4-BE49-F238E27FC236}">
                <a16:creationId xmlns:a16="http://schemas.microsoft.com/office/drawing/2014/main" id="{8C387083-440E-4BDC-BF23-2DC07331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981200" cy="1962150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F7F9F7"/>
          </a:solidFill>
          <a:ln xmlns:a="http://schemas.openxmlformats.org/drawingml/2006/main" w="14288">
            <a:solidFill>
              <a:srgbClr val="D7DED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1261B5-3632-4697-A1FF-8A837E40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43175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D6B3C"/>
                </a:solidFill>
              </a:defRPr>
            </a:pPr>
            <a:r>
              <a:rPr sz="2400" b="1">
                <a:solidFill>
                  <a:srgbClr val="1D6B3C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7CA376-E921-43AB-BCC9-767D43F3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02124"/>
                </a:solidFill>
              </a:defRPr>
            </a:pPr>
            <a:r>
              <a:rPr sz="1800" b="1">
                <a:solidFill>
                  <a:srgbClr val="202124"/>
                </a:solidFill>
              </a:rPr>
              <a:t>Prepare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E28C0-4E3F-4F9E-9BDF-F244917D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57575"/>
            <a:ext cx="152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B7280"/>
                </a:solidFill>
              </a:defRPr>
            </a:pPr>
            <a:r>
              <a:rPr sz="1275">
                <a:solidFill>
                  <a:srgbClr val="6B7280"/>
                </a:solidFill>
              </a:rPr>
              <a:t>Hash-gate the authorized RiceChem release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8A0C56-7F1A-429D-84AB-5C8A4E8F1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076575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D6B3C"/>
                </a:solidFill>
              </a:defRPr>
            </a:pPr>
            <a:r>
              <a:rPr sz="2250" b="1">
                <a:solidFill>
                  <a:srgbClr val="1D6B3C"/>
                </a:solidFill>
              </a:rPr>
              <a:t>→</a:t>
            </a:r>
          </a:p>
        </p:txBody>
      </p:sp>
      <p:sp>
        <p:nvSpPr>
          <p:cNvPr id="10" name="step-2">
            <a:extLst xmlns:a="http://schemas.openxmlformats.org/drawingml/2006/main">
              <a:ext uri="{FF2B5EF4-FFF2-40B4-BE49-F238E27FC236}">
                <a16:creationId xmlns:a16="http://schemas.microsoft.com/office/drawing/2014/main" id="{05A04F7E-2CB5-4B42-A00E-B161F0CD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33625"/>
            <a:ext cx="1981200" cy="1962150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4288">
            <a:solidFill>
              <a:srgbClr val="D7DE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EB0CE6-65F8-4584-AB4E-79B90156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43175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D6B3C"/>
                </a:solidFill>
              </a:defRPr>
            </a:pPr>
            <a:r>
              <a:rPr sz="2400" b="1">
                <a:solidFill>
                  <a:srgbClr val="1D6B3C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34FB1F-26E3-4D39-9139-F176B37E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02124"/>
                </a:solidFill>
              </a:defRPr>
            </a:pPr>
            <a:r>
              <a:rPr sz="1800" b="1">
                <a:solidFill>
                  <a:srgbClr val="202124"/>
                </a:solidFill>
              </a:rPr>
              <a:t>Fine-tune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934773-7665-4A28-857C-78A2B5318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57575"/>
            <a:ext cx="152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B7280"/>
                </a:solidFill>
              </a:defRPr>
            </a:pPr>
            <a:r>
              <a:rPr sz="1275">
                <a:solidFill>
                  <a:srgbClr val="6B7280"/>
                </a:solidFill>
              </a:rPr>
              <a:t>Gemma 4B + 27B</a:t>
            </a:r>
          </a:p>
          <a:p xmlns:a="http://schemas.openxmlformats.org/drawingml/2006/main">
            <a:pPr>
              <a:defRPr sz="1275">
                <a:solidFill>
                  <a:srgbClr val="6B7280"/>
                </a:solidFill>
              </a:defRPr>
            </a:pPr>
            <a:r>
              <a:rPr sz="1275">
                <a:solidFill>
                  <a:srgbClr val="6B7280"/>
                </a:solidFill>
              </a:rPr>
              <a:t>LoRA / QLoRA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5F38B0-EB83-45AE-A92C-EF97E23D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076575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D6B3C"/>
                </a:solidFill>
              </a:defRPr>
            </a:pPr>
            <a:r>
              <a:rPr sz="2250" b="1">
                <a:solidFill>
                  <a:srgbClr val="1D6B3C"/>
                </a:solidFill>
              </a:rPr>
              <a:t>→</a:t>
            </a:r>
          </a:p>
        </p:txBody>
      </p:sp>
      <p:sp>
        <p:nvSpPr>
          <p:cNvPr id="15" name="step-3">
            <a:extLst xmlns:a="http://schemas.openxmlformats.org/drawingml/2006/main">
              <a:ext uri="{FF2B5EF4-FFF2-40B4-BE49-F238E27FC236}">
                <a16:creationId xmlns:a16="http://schemas.microsoft.com/office/drawing/2014/main" id="{536D06D6-0398-4AD9-B9DA-0E14A41F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333625"/>
            <a:ext cx="1981200" cy="1962150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E8F4EC"/>
          </a:solidFill>
          <a:ln xmlns:a="http://schemas.openxmlformats.org/drawingml/2006/main" w="14288">
            <a:solidFill>
              <a:srgbClr val="D7DE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9E468A-0F70-4BB9-9040-107D0111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543175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D6B3C"/>
                </a:solidFill>
              </a:defRPr>
            </a:pPr>
            <a:r>
              <a:rPr sz="2400" b="1">
                <a:solidFill>
                  <a:srgbClr val="1D6B3C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4373AF-DFFE-494B-86BA-E0569A7D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02124"/>
                </a:solidFill>
              </a:defRPr>
            </a:pPr>
            <a:r>
              <a:rPr sz="1800" b="1">
                <a:solidFill>
                  <a:srgbClr val="202124"/>
                </a:solidFill>
              </a:rPr>
              <a:t>Serve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68973E-E981-4218-838A-D3ECAB9F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457575"/>
            <a:ext cx="152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B7280"/>
                </a:solidFill>
              </a:defRPr>
            </a:pPr>
            <a:r>
              <a:rPr sz="1275">
                <a:solidFill>
                  <a:srgbClr val="6B7280"/>
                </a:solidFill>
              </a:rPr>
              <a:t>Private CPU, A100, and TPU endpoints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A3DE20-CEC7-4598-88A6-7C318C883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076575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D6B3C"/>
                </a:solidFill>
              </a:defRPr>
            </a:pPr>
            <a:r>
              <a:rPr sz="2250" b="1">
                <a:solidFill>
                  <a:srgbClr val="1D6B3C"/>
                </a:solidFill>
              </a:rPr>
              <a:t>→</a:t>
            </a:r>
          </a:p>
        </p:txBody>
      </p:sp>
      <p:sp>
        <p:nvSpPr>
          <p:cNvPr id="20" name="step-4">
            <a:extLst xmlns:a="http://schemas.openxmlformats.org/drawingml/2006/main">
              <a:ext uri="{FF2B5EF4-FFF2-40B4-BE49-F238E27FC236}">
                <a16:creationId xmlns:a16="http://schemas.microsoft.com/office/drawing/2014/main" id="{6CF48103-022F-401D-B1EE-A78354DD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33625"/>
            <a:ext cx="1981200" cy="1962150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F5EEF7"/>
          </a:solidFill>
          <a:ln xmlns:a="http://schemas.openxmlformats.org/drawingml/2006/main" w="14288">
            <a:solidFill>
              <a:srgbClr val="D7DED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3C657B-273C-4807-87AA-2E220E996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43175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D6B3C"/>
                </a:solidFill>
              </a:defRPr>
            </a:pPr>
            <a:r>
              <a:rPr sz="2400" b="1">
                <a:solidFill>
                  <a:srgbClr val="1D6B3C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577F1D-73A7-4823-839B-B2366FAA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02124"/>
                </a:solidFill>
              </a:defRPr>
            </a:pPr>
            <a:r>
              <a:rPr sz="1800" b="1">
                <a:solidFill>
                  <a:srgbClr val="202124"/>
                </a:solidFill>
              </a:rPr>
              <a:t>Evaluate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0D528C-A1F2-4366-8036-96F31A132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57575"/>
            <a:ext cx="152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B7280"/>
                </a:solidFill>
              </a:defRPr>
            </a:pPr>
            <a:r>
              <a:rPr sz="1275">
                <a:solidFill>
                  <a:srgbClr val="6B7280"/>
                </a:solidFill>
              </a:rPr>
              <a:t>Stream all 861 frozen decisions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55442E-C2A6-47CF-AFF2-7285C3ED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8006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D6B3C"/>
                </a:solidFill>
              </a:defRPr>
            </a:pPr>
            <a:r>
              <a:rPr sz="1050" b="1">
                <a:solidFill>
                  <a:srgbClr val="1D6B3C"/>
                </a:solidFill>
              </a:rPr>
              <a:t>PUBLIC ARTIFACT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338CB1-4D60-438F-9667-E8FFA3FE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1435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02124"/>
                </a:solidFill>
              </a:defRPr>
            </a:pPr>
            <a:r>
              <a:rPr sz="1650" b="1">
                <a:solidFill>
                  <a:srgbClr val="202124"/>
                </a:solidFill>
              </a:rPr>
              <a:t>Pinned containers  ·  Kubernetes manifests  ·  profiling notebook  ·  aggregate receipts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6260C4-DDD0-4C2D-A764-9F6B49D6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72125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B7280"/>
                </a:solidFill>
              </a:defRPr>
            </a:pPr>
            <a:r>
              <a:rPr sz="1350">
                <a:solidFill>
                  <a:srgbClr val="6B7280"/>
                </a:solidFill>
              </a:rPr>
              <a:t>Raw RiceChem rows, model weights, credentials, and product code stay out of the repository.</a:t>
            </a:r>
          </a:p>
        </p:txBody>
      </p:sp>
    </p:spTree>
    <p:extLst>
      <p:ext uri="{BB962C8B-B14F-4D97-AF65-F5344CB8AC3E}">
        <p14:creationId xmlns:p14="http://schemas.microsoft.com/office/powerpoint/2010/main" val="8961112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0B652C-F602-44F0-9B08-39E2D7A8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D6B3C"/>
                </a:solidFill>
              </a:defRPr>
            </a:pPr>
            <a:r>
              <a:rPr sz="1050" b="1">
                <a:solidFill>
                  <a:srgbClr val="1D6B3C"/>
                </a:solidFill>
              </a:rPr>
              <a:t>3 · MEASUREMENTS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3D7EB-28EF-4384-8556-A9DD9701B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02124"/>
                </a:solidFill>
              </a:defRPr>
            </a:pPr>
            <a:r>
              <a:rPr sz="3150" b="1">
                <a:solidFill>
                  <a:srgbClr val="202124"/>
                </a:solidFill>
              </a:rPr>
              <a:t>One frozen workload; three kinds of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DE664E-5AB4-4539-B6D1-5B5A025A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B7280"/>
                </a:solidFill>
              </a:defRPr>
            </a:pPr>
            <a:r>
              <a:rPr sz="1575">
                <a:solidFill>
                  <a:srgbClr val="6B7280"/>
                </a:solidFill>
              </a:rPr>
              <a:t>Every model sees the same prompt, parser, and canonical test decisions.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B83D14-57C7-4E17-8BAC-4928A5B1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A9290"/>
                </a:solidFill>
              </a:defRPr>
            </a:pPr>
            <a:r>
              <a:rPr sz="825">
                <a:solidFill>
                  <a:srgbClr val="8A9290"/>
                </a:solidFill>
              </a:rPr>
              <a:t>ME344 · Option 2 · Sean Yépez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417CE9-0CCE-4351-AC66-BE602D117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D6B3C"/>
                </a:solidFill>
              </a:defRPr>
            </a:pPr>
            <a:r>
              <a:rPr sz="1125" b="1">
                <a:solidFill>
                  <a:srgbClr val="1D6B3C"/>
                </a:solidFill>
              </a:rPr>
              <a:t>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66F5E8-7C59-4A6C-BF02-DE79A36A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43175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202124"/>
                </a:solidFill>
              </a:defRPr>
            </a:pPr>
            <a:r>
              <a:rPr sz="3750" b="1">
                <a:solidFill>
                  <a:srgbClr val="202124"/>
                </a:solidFill>
              </a:rPr>
              <a:t>83.3%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3B3353-8D2F-4503-99E6-A51D494E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0995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B7280"/>
                </a:solidFill>
              </a:defRPr>
            </a:pPr>
            <a:r>
              <a:rPr sz="1350">
                <a:solidFill>
                  <a:srgbClr val="6B7280"/>
                </a:solidFill>
              </a:rPr>
              <a:t>Exact agreement with the TA</a:t>
            </a:r>
          </a:p>
          <a:p xmlns:a="http://schemas.openxmlformats.org/drawingml/2006/main">
            <a:pPr>
              <a:defRPr sz="1350">
                <a:solidFill>
                  <a:srgbClr val="6B7280"/>
                </a:solidFill>
              </a:defRPr>
            </a:pPr>
            <a:r>
              <a:rPr sz="1350">
                <a:solidFill>
                  <a:srgbClr val="6B7280"/>
                </a:solidFill>
              </a:rPr>
              <a:t>paired, response-clustered inference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2A1209-0F27-4B64-AB9E-E2ADB7A86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143125"/>
            <a:ext cx="190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D9"/>
          </a:solidFill>
          <a:ln xmlns:a="http://schemas.openxmlformats.org/drawingml/2006/main" w="0">
            <a:solidFill>
              <a:srgbClr val="D7DED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519C60-8CA9-4C70-93E0-2DFCDC3A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5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D6B3C"/>
                </a:solidFill>
              </a:defRPr>
            </a:pPr>
            <a:r>
              <a:rPr sz="1125" b="1">
                <a:solidFill>
                  <a:srgbClr val="1D6B3C"/>
                </a:solidFill>
              </a:rPr>
              <a:t>THROUGHPUT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4CD01A-63AB-4D6B-A4A9-71B5D57C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43175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202124"/>
                </a:solidFill>
              </a:defRPr>
            </a:pPr>
            <a:r>
              <a:rPr sz="3750" b="1">
                <a:solidFill>
                  <a:srgbClr val="202124"/>
                </a:solidFill>
              </a:rPr>
              <a:t>73.3/s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2198BB-1587-40A2-BE82-486F195C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0995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B7280"/>
                </a:solidFill>
              </a:defRPr>
            </a:pPr>
            <a:r>
              <a:rPr sz="1350">
                <a:solidFill>
                  <a:srgbClr val="6B7280"/>
                </a:solidFill>
              </a:rPr>
              <a:t>Decisions per second</a:t>
            </a:r>
          </a:p>
          <a:p xmlns:a="http://schemas.openxmlformats.org/drawingml/2006/main">
            <a:pPr>
              <a:defRPr sz="1350">
                <a:solidFill>
                  <a:srgbClr val="6B7280"/>
                </a:solidFill>
              </a:defRPr>
            </a:pPr>
            <a:r>
              <a:rPr sz="1350">
                <a:solidFill>
                  <a:srgbClr val="6B7280"/>
                </a:solidFill>
              </a:rPr>
              <a:t>p50 / p95 latency + wall 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CDAB11-6E8E-440B-BA12-E917915C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43125"/>
            <a:ext cx="190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D9"/>
          </a:solidFill>
          <a:ln xmlns:a="http://schemas.openxmlformats.org/drawingml/2006/main" w="0">
            <a:solidFill>
              <a:srgbClr val="D7DE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B3E2F4-A2D2-4209-970A-4BFFF516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95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D6B3C"/>
                </a:solidFill>
              </a:defRPr>
            </a:pPr>
            <a:r>
              <a:rPr sz="1125" b="1">
                <a:solidFill>
                  <a:srgbClr val="1D6B3C"/>
                </a:solidFill>
              </a:rPr>
              <a:t>SERVING COST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23DEA5-24BC-4736-BD57-8750A122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43175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202124"/>
                </a:solidFill>
              </a:defRPr>
            </a:pPr>
            <a:r>
              <a:rPr sz="3750" b="1">
                <a:solidFill>
                  <a:srgbClr val="202124"/>
                </a:solidFill>
              </a:rPr>
              <a:t>$0.77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8FB20F-927C-4921-A869-A2154647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0995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B7280"/>
                </a:solidFill>
              </a:defRPr>
            </a:pPr>
            <a:r>
              <a:rPr sz="1350">
                <a:solidFill>
                  <a:srgbClr val="6B7280"/>
                </a:solidFill>
              </a:rPr>
              <a:t>Per 1,000 decisions</a:t>
            </a:r>
          </a:p>
          <a:p xmlns:a="http://schemas.openxmlformats.org/drawingml/2006/main">
            <a:pPr>
              <a:defRPr sz="1350">
                <a:solidFill>
                  <a:srgbClr val="6B7280"/>
                </a:solidFill>
              </a:defRPr>
            </a:pPr>
            <a:r>
              <a:rPr sz="1350">
                <a:solidFill>
                  <a:srgbClr val="6B7280"/>
                </a:solidFill>
              </a:rPr>
              <a:t>list-rate or instance-rate basis</a:t>
            </a:r>
          </a:p>
        </p:txBody>
      </p:sp>
      <p:sp>
        <p:nvSpPr>
          <p:cNvPr id="16" name="comparison-rule">
            <a:extLst xmlns:a="http://schemas.openxmlformats.org/drawingml/2006/main">
              <a:ext uri="{FF2B5EF4-FFF2-40B4-BE49-F238E27FC236}">
                <a16:creationId xmlns:a16="http://schemas.microsoft.com/office/drawing/2014/main" id="{24E41DB9-559B-443A-B0C1-CE8B8BAD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103822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8F4EC"/>
          </a:solidFill>
          <a:ln xmlns:a="http://schemas.openxmlformats.org/drawingml/2006/main" w="14288">
            <a:solidFill>
              <a:srgbClr val="B9D5C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7012C5-10BE-4199-AF24-E7F1813B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D6B3C"/>
                </a:solidFill>
              </a:defRPr>
            </a:pPr>
            <a:r>
              <a:rPr sz="1050" b="1">
                <a:solidFill>
                  <a:srgbClr val="1D6B3C"/>
                </a:solidFill>
              </a:rPr>
              <a:t>CONTROLLED HARDWARE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FDA09D-3D49-4ED3-9398-FF3D93B2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14950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02124"/>
                </a:solidFill>
              </a:defRPr>
            </a:pPr>
            <a:r>
              <a:rPr sz="1575" b="1">
                <a:solidFill>
                  <a:srgbClr val="202124"/>
                </a:solidFill>
              </a:rPr>
              <a:t>Same merged 4B checkpoint · CPU / A100 / TPU v5e-8 · concurrency 1 and 24 · all 861 decisions</a:t>
            </a:r>
          </a:p>
        </p:txBody>
      </p:sp>
    </p:spTree>
    <p:extLst>
      <p:ext uri="{BB962C8B-B14F-4D97-AF65-F5344CB8AC3E}">
        <p14:creationId xmlns:p14="http://schemas.microsoft.com/office/powerpoint/2010/main" val="7893368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E23E9F-BB99-4910-AEB8-777EF127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D6B3C"/>
                </a:solidFill>
              </a:defRPr>
            </a:pPr>
            <a:r>
              <a:rPr sz="1050" b="1">
                <a:solidFill>
                  <a:srgbClr val="1D6B3C"/>
                </a:solidFill>
              </a:rPr>
              <a:t>4 · RESULTS · CPU / GPU / TPU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E5FABF-7803-46BB-A3B2-738CF63E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02124"/>
                </a:solidFill>
              </a:defRPr>
            </a:pPr>
            <a:r>
              <a:rPr sz="3150" b="1">
                <a:solidFill>
                  <a:srgbClr val="202124"/>
                </a:solidFill>
              </a:rPr>
              <a:t>TPU led both measured 4B training and serving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413808-5EDA-4B29-A4C1-E89FEEB0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B7280"/>
                </a:solidFill>
              </a:defRPr>
            </a:pPr>
            <a:r>
              <a:rPr sz="1575">
                <a:solidFill>
                  <a:srgbClr val="6B7280"/>
                </a:solidFill>
              </a:rPr>
              <a:t>CPU remains pending the required full 861-decision run.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8DA795-869A-4669-BC2E-EDD3F802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A9290"/>
                </a:solidFill>
              </a:defRPr>
            </a:pPr>
            <a:r>
              <a:rPr sz="825">
                <a:solidFill>
                  <a:srgbClr val="8A9290"/>
                </a:solidFill>
              </a:rPr>
              <a:t>ME344 · Option 2 · Sean Yépez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742950" y="2047875"/>
          <a:ext xmlns:a="http://schemas.openxmlformats.org/drawingml/2006/main" cx="676275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7ed1be90ca2464f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8D49C-FAFA-4209-B8C9-80B566A49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81225"/>
            <a:ext cx="2381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D6B3C"/>
                </a:solidFill>
              </a:defRPr>
            </a:pPr>
            <a:r>
              <a:rPr sz="4200" b="1">
                <a:solidFill>
                  <a:srgbClr val="1D6B3C"/>
                </a:solidFill>
              </a:rPr>
              <a:t>2.1×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6ABDD4-15EE-407B-9B1A-274C8765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146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02124"/>
                </a:solidFill>
              </a:defRPr>
            </a:pPr>
            <a:r>
              <a:rPr sz="1650" b="1">
                <a:solidFill>
                  <a:srgbClr val="202124"/>
                </a:solidFill>
              </a:rPr>
              <a:t>training token throughput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ED601C-8AD2-4414-A9BB-0DD43DD3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52800"/>
            <a:ext cx="266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B7280"/>
                </a:solidFill>
              </a:defRPr>
            </a:pPr>
            <a:r>
              <a:rPr sz="1500">
                <a:solidFill>
                  <a:srgbClr val="6B7280"/>
                </a:solidFill>
              </a:rPr>
              <a:t>TPU 1,690 tok/s</a:t>
            </a:r>
          </a:p>
          <a:p xmlns:a="http://schemas.openxmlformats.org/drawingml/2006/main">
            <a:pPr>
              <a:defRPr sz="1500">
                <a:solidFill>
                  <a:srgbClr val="6B7280"/>
                </a:solidFill>
              </a:defRPr>
            </a:pPr>
            <a:r>
              <a:rPr sz="1500">
                <a:solidFill>
                  <a:srgbClr val="6B7280"/>
                </a:solidFill>
              </a:rPr>
              <a:t>A100 816 tok/s</a:t>
            </a:r>
          </a:p>
        </p:txBody>
      </p:sp>
      <p:sp>
        <p:nvSpPr>
          <p:cNvPr id="9" name="cpu-pending">
            <a:extLst xmlns:a="http://schemas.openxmlformats.org/drawingml/2006/main">
              <a:ext uri="{FF2B5EF4-FFF2-40B4-BE49-F238E27FC236}">
                <a16:creationId xmlns:a16="http://schemas.microsoft.com/office/drawing/2014/main" id="{A3B7BA04-9884-4065-93A2-16F1D7CB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71975"/>
            <a:ext cx="30480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7F9F7"/>
          </a:solidFill>
          <a:ln xmlns:a="http://schemas.openxmlformats.org/drawingml/2006/main" w="14288">
            <a:solidFill>
              <a:srgbClr val="D7DED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EF9179-3BC8-42E7-91C6-D169C0859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57200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02124"/>
                </a:solidFill>
              </a:defRPr>
            </a:pPr>
            <a:r>
              <a:rPr sz="1950" b="1">
                <a:solidFill>
                  <a:srgbClr val="202124"/>
                </a:solidFill>
              </a:rPr>
              <a:t>CPU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13FDA0-EE88-407B-A4CA-EF1A715D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96252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8683A"/>
                </a:solidFill>
              </a:defRPr>
            </a:pPr>
            <a:r>
              <a:rPr sz="1500" b="1">
                <a:solidFill>
                  <a:srgbClr val="E8683A"/>
                </a:solidFill>
              </a:rPr>
              <a:t>Full 861-run pending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B91593-95CA-436B-A5CC-3D04ABA8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3054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B7280"/>
                </a:solidFill>
              </a:defRPr>
            </a:pPr>
            <a:r>
              <a:rPr sz="1200">
                <a:solidFill>
                  <a:srgbClr val="6B7280"/>
                </a:solidFill>
              </a:rPr>
              <a:t>No subset fallback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C17A7B-8C3F-44E2-9D60-FF718F12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055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Measured 4B variants are independently trained; the same-checkpoint matrix is the controlled hardware comparison.</a:t>
            </a:r>
          </a:p>
        </p:txBody>
      </p:sp>
    </p:spTree>
    <p:extLst>
      <p:ext uri="{BB962C8B-B14F-4D97-AF65-F5344CB8AC3E}">
        <p14:creationId xmlns:p14="http://schemas.microsoft.com/office/powerpoint/2010/main" val="17598095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447432-A0CB-4CDF-9A96-DBD2462F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D6B3C"/>
                </a:solidFill>
              </a:defRPr>
            </a:pPr>
            <a:r>
              <a:rPr sz="1050" b="1">
                <a:solidFill>
                  <a:srgbClr val="1D6B3C"/>
                </a:solidFill>
              </a:rPr>
              <a:t>5 · 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DAB37C-2DE6-4350-A479-FCBFCF68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02124"/>
                </a:solidFill>
              </a:defRPr>
            </a:pPr>
            <a:r>
              <a:rPr sz="3150" b="1">
                <a:solidFill>
                  <a:srgbClr val="202124"/>
                </a:solidFill>
              </a:rPr>
              <a:t>Fine-tuning moved Gemma onto the grading frontier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715E37-1C47-4657-AFB2-34C9A4C1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B7280"/>
                </a:solidFill>
              </a:defRPr>
            </a:pPr>
            <a:r>
              <a:rPr sz="1575">
                <a:solidFill>
                  <a:srgbClr val="6B7280"/>
                </a:solidFill>
              </a:rPr>
              <a:t>Accuracy improved materially; the frontier comparison remains appropriately cautious.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A9D806-B1D5-4E2C-AA9C-DAE44FEA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A9290"/>
                </a:solidFill>
              </a:defRPr>
            </a:pPr>
            <a:r>
              <a:rPr sz="825">
                <a:solidFill>
                  <a:srgbClr val="8A9290"/>
                </a:solidFill>
              </a:rPr>
              <a:t>ME344 · Option 2 · Sean Yépez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f8290713cc462a"/>
          <a:stretch xmlns:a="http://schemas.openxmlformats.org/drawingml/2006/main"/>
        </p:blipFill>
        <p:spPr>
          <a:xfrm xmlns:a="http://schemas.openxmlformats.org/drawingml/2006/main">
            <a:off x="1345406" y="1762125"/>
            <a:ext cx="5595938" cy="4476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4C0D8F-5BCE-4A32-ABAB-A0C56A55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33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68AC91-AFBC-4DE5-9543-31A3419D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57400"/>
            <a:ext cx="32480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202124"/>
                </a:solidFill>
              </a:defRPr>
            </a:pPr>
            <a:r>
              <a:rPr sz="1575">
                <a:solidFill>
                  <a:srgbClr val="202124"/>
                </a:solidFill>
              </a:rPr>
              <a:t>27B: 71.0% → 83.3% after fine-tuning (+12.3 points; p = .0001).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771603-258D-4352-88D7-17D95F95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90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E158D5-4877-49C3-8BCE-2B366164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14675"/>
            <a:ext cx="32480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202124"/>
                </a:solidFill>
              </a:defRPr>
            </a:pPr>
            <a:r>
              <a:rPr sz="1575">
                <a:solidFill>
                  <a:srgbClr val="202124"/>
                </a:solidFill>
              </a:rPr>
              <a:t>Competitive with Opus at 80.5%; the difference is not significant (p = .10).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FB1CED-7119-4716-BB64-A74CC7473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48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AF25F5-3439-4560-B0E0-28447AB2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71950"/>
            <a:ext cx="32480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202124"/>
                </a:solidFill>
              </a:defRPr>
            </a:pPr>
            <a:r>
              <a:rPr sz="1575">
                <a:solidFill>
                  <a:srgbClr val="202124"/>
                </a:solidFill>
              </a:rPr>
              <a:t>The measured 27B bottleneck was unbatched serving—not an A100 ceiling.</a:t>
            </a:r>
          </a:p>
        </p:txBody>
      </p:sp>
      <p:sp>
        <p:nvSpPr>
          <p:cNvPr id="12" name="next-measurement">
            <a:extLst xmlns:a="http://schemas.openxmlformats.org/drawingml/2006/main">
              <a:ext uri="{FF2B5EF4-FFF2-40B4-BE49-F238E27FC236}">
                <a16:creationId xmlns:a16="http://schemas.microsoft.com/office/drawing/2014/main" id="{FCC48B69-4C48-4328-8E7B-56516991E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38750"/>
            <a:ext cx="35242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8F4EC"/>
          </a:solidFill>
          <a:ln xmlns:a="http://schemas.openxmlformats.org/drawingml/2006/main" w="14288">
            <a:solidFill>
              <a:srgbClr val="B9D5C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979382-B2D8-4C89-9789-65A183F1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4006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D6B3C"/>
                </a:solidFill>
              </a:defRPr>
            </a:pPr>
            <a:r>
              <a:rPr sz="975" b="1">
                <a:solidFill>
                  <a:srgbClr val="1D6B3C"/>
                </a:solidFill>
              </a:rPr>
              <a:t>NEXT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AA9332-1342-4CE8-849E-D9F2DB57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648325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2124"/>
                </a:solidFill>
              </a:defRPr>
            </a:pPr>
            <a:r>
              <a:rPr sz="1350" b="1">
                <a:solidFill>
                  <a:srgbClr val="202124"/>
                </a:solidFill>
              </a:rPr>
              <a:t>Complete CPU/GPU/TPU matrix; validate 27B with batching.</a:t>
            </a:r>
          </a:p>
        </p:txBody>
      </p:sp>
    </p:spTree>
    <p:extLst>
      <p:ext uri="{BB962C8B-B14F-4D97-AF65-F5344CB8AC3E}">
        <p14:creationId xmlns:p14="http://schemas.microsoft.com/office/powerpoint/2010/main" val="7982151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2026-08-14T02:29:08.8740000Z</dcterms:created>
  <dcterms:modified xsi:type="dcterms:W3CDTF">2026-08-14T02:29:08.8740000Z</dcterms:modified>
</coreProperties>
</file>