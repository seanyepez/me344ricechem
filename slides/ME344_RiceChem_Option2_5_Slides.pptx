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18">
            <a:extLst xmlns:a="http://schemas.openxmlformats.org/drawingml/2006/main">
              <a:ext uri="{FF2B5EF4-FFF2-40B4-BE49-F238E27FC236}">
                <a16:creationId xmlns:a16="http://schemas.microsoft.com/office/drawing/2014/main" id="{A23BD336-0DAA-4F67-9C42-01D5C713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Problem: grading consumes the time meant for teaching</a:t>
            </a:r>
            <a:endParaRPr sz="24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8" name="Google Shape;108;p18">
            <a:extLst xmlns:a="http://schemas.openxmlformats.org/drawingml/2006/main">
              <a:ext uri="{FF2B5EF4-FFF2-40B4-BE49-F238E27FC236}">
                <a16:creationId xmlns:a16="http://schemas.microsoft.com/office/drawing/2014/main" id="{7DA70557-6FBE-4D1E-BF35-C69DEB6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TAs spend 7 of 8 paid hours grading. Treemarks uses AI for a first rubric-verification pass; people review the exceptions.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9" name="Google Shape;109;p18">
            <a:extLst xmlns:a="http://schemas.openxmlformats.org/drawingml/2006/main">
              <a:ext uri="{FF2B5EF4-FFF2-40B4-BE49-F238E27FC236}">
                <a16:creationId xmlns:a16="http://schemas.microsoft.com/office/drawing/2014/main" id="{838C0EAF-FD4C-4B7C-9E53-A32217F3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" y="1100042"/>
            <a:ext cx="119996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FD7C7"/>
            </a:solidFill>
            <a:prstDash val="solid"/>
          </a:ln>
        </p:spPr>
        <p:txBody>
          <a:bodyPr xmlns:a="http://schemas.openxmlformats.org/drawingml/2006/main" spcFirstLastPara="1" wrap="square" lIns="47625" tIns="47625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7 / 8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paid hours grading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measured TA workday</a:t>
            </a:r>
          </a:p>
        </p:txBody>
      </p:sp>
      <p:sp>
        <p:nvSpPr>
          <p:cNvPr id="110" name="Google Shape;110;p18">
            <a:extLst xmlns:a="http://schemas.openxmlformats.org/drawingml/2006/main">
              <a:ext uri="{FF2B5EF4-FFF2-40B4-BE49-F238E27FC236}">
                <a16:creationId xmlns:a16="http://schemas.microsoft.com/office/drawing/2014/main" id="{9B947CCA-B178-46BB-8B09-290CFC7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02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Supervised benchmark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1" name="Google Shape;111;p18">
            <a:extLst xmlns:a="http://schemas.openxmlformats.org/drawingml/2006/main">
              <a:ext uri="{FF2B5EF4-FFF2-40B4-BE49-F238E27FC236}">
                <a16:creationId xmlns:a16="http://schemas.microsoft.com/office/drawing/2014/main" id="{2F9351F0-B356-43FF-9C6F-A00B3C06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RiceChem: real chemistry-exam answers graded against rubrics — one answer + one criterion → the TA's TRUE/FALSE label. 8,392 decisions: 6,700 train · 831 validate · 861 sealed test.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2" name="Google Shape;112;p18">
            <a:extLst xmlns:a="http://schemas.openxmlformats.org/drawingml/2006/main">
              <a:ext uri="{FF2B5EF4-FFF2-40B4-BE49-F238E27FC236}">
                <a16:creationId xmlns:a16="http://schemas.microsoft.com/office/drawing/2014/main" id="{8878E587-70CF-4C61-8E2F-B174B4FF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03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Systems question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3" name="Google Shape;113;p18">
            <a:extLst xmlns:a="http://schemas.openxmlformats.org/drawingml/2006/main">
              <a:ext uri="{FF2B5EF4-FFF2-40B4-BE49-F238E27FC236}">
                <a16:creationId xmlns:a16="http://schemas.microsoft.com/office/drawing/2014/main" id="{B180F3C1-4FE2-477A-BB7F-5F076A8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ME344 asks whether one immutable workload can run across CPU, A100, and TPU without memory or I/O bottlenecks.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4" name="Google Shape;114;p18">
            <a:extLst xmlns:a="http://schemas.openxmlformats.org/drawingml/2006/main">
              <a:ext uri="{FF2B5EF4-FFF2-40B4-BE49-F238E27FC236}">
                <a16:creationId xmlns:a16="http://schemas.microsoft.com/office/drawing/2014/main" id="{65D6AEE2-6056-4B16-A0DE-31DC05A4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>
            <a:extLst xmlns:a="http://schemas.openxmlformats.org/drawingml/2006/main">
              <a:ext uri="{FF2B5EF4-FFF2-40B4-BE49-F238E27FC236}">
                <a16:creationId xmlns:a16="http://schemas.microsoft.com/office/drawing/2014/main" id="{7EE4FC11-90EB-4CB5-960B-64D84B6C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>
            <a:extLst xmlns:a="http://schemas.openxmlformats.org/drawingml/2006/main">
              <a:ext uri="{FF2B5EF4-FFF2-40B4-BE49-F238E27FC236}">
                <a16:creationId xmlns:a16="http://schemas.microsoft.com/office/drawing/2014/main" id="{963E08AE-CB22-4B41-BE9C-0AB1D771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>
            <a:extLst xmlns:a="http://schemas.openxmlformats.org/drawingml/2006/main">
              <a:ext uri="{FF2B5EF4-FFF2-40B4-BE49-F238E27FC236}">
                <a16:creationId xmlns:a16="http://schemas.microsoft.com/office/drawing/2014/main" id="{51483793-5ECF-4406-951B-9CF0D31B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52950"/>
            <a:ext cx="804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1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· ME344 Summer 2026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2e7146ba0b0431e"/>
              </a:rPr>
              <a:t>github.com/seanyepez/me344ricechem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  |   Research basis: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4d355e6e6f74b1a"/>
              </a:rPr>
              <a:t>Ferrer et al. (2026)</a:t>
            </a:r>
            <a:endParaRPr sz="720" u="sng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6D54B6C-4F79-45FD-A125-F549C616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000125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makes the first pass; the TA teaches and resolves exceptions.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3C60ED6-B3DD-4D3D-937C-664B85B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EAF1FE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1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checks every rubric decision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4722EB-9DF3-4695-B70A-AA00899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E7AF2EA-1E3D-4460-AB6E-548E755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1430">
            <a:solidFill>
              <a:srgbClr val="FFF4D6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2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reviews uncertain cases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DAB24B0-A507-4DB6-8BBE-A5CF5505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7FE507E-10D4-4CAA-823A-78B9FC2C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EAF4ED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3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Students receive feedback sooner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971550"/>
            <a:ext cx="1866900" cy="1476375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0D64A4B-58EF-4032-B1E9-D936BF5A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18669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19050" rIns="0" bIns="0" anchor="ctr">
            <a:normAutofit fontScale="939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+ Dr. Mourad Bouache · Google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098A7E9-7C1F-48CC-825F-6A8AE442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8048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C8D9FB"/>
            </a:solidFill>
            <a:prstDash val="solid"/>
          </a:ln>
        </p:spPr>
        <p:txBody>
          <a:bodyPr xmlns:a="http://schemas.openxmlformats.org/drawingml/2006/main" lIns="133350" tIns="9525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RiceChem supervised benchmark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·  1,264 responses  ·  4 questions  ·  27 rubric items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8,392 TA-labeled TRUE/FALSE decisions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become training, validation, and sealed test evidence.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5522C84-BC3E-49CB-BC35-BF65B5B5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RQ1 · QUALITY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Can tuning make a local model accurate enough for rubric grading?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3578D29-5E64-4E8F-A91E-B6E5595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RQ2 · SYSTEMS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How do CPU, GPU, and TPU change latency, throughput, and utilization?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CF332BB-5B3D-4B4E-BC79-E92C115B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RQ3 · OPERATIONS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Which configuration meets the quality bar and &lt;24 h at lowest cost?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and run a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EXPERIMENT DESIGN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9242FC5-6C44-453D-93C8-D1C3FB6F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78486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Validation selects the checkpoint; the test split stays sealed.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workload—and disclose what is missing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14800"/>
            <a:ext cx="28860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71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84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4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TPU device utilization + HBM were not enabled in this run. Remedy: add XProf / TensorBoard TPU profiling (or Cloud TPU device metrics), profiler hooks, and service-account permissions; report unavailable values rather than estimate them.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decisions · same prompt/parser/output cap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45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device util/HBM unavailable · 54 GB host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These are one-endpoint measurements. Add GKE runners/endpoints as queue depth grows; cluster throughput is bounded by quota and coordination overhead.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QUALITY GATE · ≈72% AGREEMENT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failed the practical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re-review overhead would erase the throughput benefit.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was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Google Shape;160;p22">
            <a:extLst xmlns:a="http://schemas.openxmlformats.org/drawingml/2006/main">
              <a:ext uri="{FF2B5EF4-FFF2-40B4-BE49-F238E27FC236}">
                <a16:creationId xmlns:a16="http://schemas.microsoft.com/office/drawing/2014/main" id="{AE05CA58-D3B4-44C9-9CDF-A3EA2913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CONCLUSION · QUALITY-GATED SYSTEM DESIGN</a:t>
            </a:r>
            <a:endParaRPr sz="16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1" name="Google Shape;161;p22">
            <a:extLst xmlns:a="http://schemas.openxmlformats.org/drawingml/2006/main">
              <a:ext uri="{FF2B5EF4-FFF2-40B4-BE49-F238E27FC236}">
                <a16:creationId xmlns:a16="http://schemas.microsoft.com/office/drawing/2014/main" id="{53CB127A-5F4C-4C1A-8C55-524BDB6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7225"/>
            <a:ext cx="7858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6264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ME344 moved Treemarks from a local prototype to a repeatable cloud ML experiment</a:t>
            </a:r>
            <a:endParaRPr sz="26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2" name="Google Shape;162;p22">
            <a:extLst xmlns:a="http://schemas.openxmlformats.org/drawingml/2006/main">
              <a:ext uri="{FF2B5EF4-FFF2-40B4-BE49-F238E27FC236}">
                <a16:creationId xmlns:a16="http://schemas.microsoft.com/office/drawing/2014/main" id="{87F36183-A7CF-418A-B3C8-5EE772F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00" y="2590800"/>
            <a:ext cx="680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2">
            <a:extLst xmlns:a="http://schemas.openxmlformats.org/drawingml/2006/main">
              <a:ext uri="{FF2B5EF4-FFF2-40B4-BE49-F238E27FC236}">
                <a16:creationId xmlns:a16="http://schemas.microsoft.com/office/drawing/2014/main" id="{716781F6-F335-4D36-B586-F77E5CB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AFB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2">
            <a:extLst xmlns:a="http://schemas.openxmlformats.org/drawingml/2006/main">
              <a:ext uri="{FF2B5EF4-FFF2-40B4-BE49-F238E27FC236}">
                <a16:creationId xmlns:a16="http://schemas.microsoft.com/office/drawing/2014/main" id="{9DA70390-BB98-4359-BE5D-2EEA65E1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B98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2">
            <a:extLst xmlns:a="http://schemas.openxmlformats.org/drawingml/2006/main">
              <a:ext uri="{FF2B5EF4-FFF2-40B4-BE49-F238E27FC236}">
                <a16:creationId xmlns:a16="http://schemas.microsoft.com/office/drawing/2014/main" id="{91931A37-FB22-4A3E-B8AF-8815A238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F5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2">
            <a:extLst xmlns:a="http://schemas.openxmlformats.org/drawingml/2006/main">
              <a:ext uri="{FF2B5EF4-FFF2-40B4-BE49-F238E27FC236}">
                <a16:creationId xmlns:a16="http://schemas.microsoft.com/office/drawing/2014/main" id="{7D3F1960-9D73-4246-9D18-3F4F47B6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2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2">
            <a:extLst xmlns:a="http://schemas.openxmlformats.org/drawingml/2006/main">
              <a:ext uri="{FF2B5EF4-FFF2-40B4-BE49-F238E27FC236}">
                <a16:creationId xmlns:a16="http://schemas.microsoft.com/office/drawing/2014/main" id="{9EC5A970-0064-48E8-A3CB-2983CC0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BEFORE</a:t>
            </a:r>
            <a:endParaRPr sz="950" b="1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8" name="Google Shape;168;p22">
            <a:extLst xmlns:a="http://schemas.openxmlformats.org/drawingml/2006/main">
              <a:ext uri="{FF2B5EF4-FFF2-40B4-BE49-F238E27FC236}">
                <a16:creationId xmlns:a16="http://schemas.microsoft.com/office/drawing/2014/main" id="{8CCD9A53-1537-4190-BEFC-B129B74D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Local prototype</a:t>
            </a:r>
            <a:endParaRPr sz="1800" b="1">
              <a:solidFill>
                <a:srgbClr val="31363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9" name="Google Shape;169;p22">
            <a:extLst xmlns:a="http://schemas.openxmlformats.org/drawingml/2006/main">
              <a:ext uri="{FF2B5EF4-FFF2-40B4-BE49-F238E27FC236}">
                <a16:creationId xmlns:a16="http://schemas.microsoft.com/office/drawing/2014/main" id="{3B7CB8DB-EE95-4E8D-BAEE-DECEA256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agent + runner</a:t>
            </a:r>
            <a:endParaRPr sz="850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0" name="Google Shape;170;p22">
            <a:extLst xmlns:a="http://schemas.openxmlformats.org/drawingml/2006/main">
              <a:ext uri="{FF2B5EF4-FFF2-40B4-BE49-F238E27FC236}">
                <a16:creationId xmlns:a16="http://schemas.microsoft.com/office/drawing/2014/main" id="{B4216A47-09FA-45CC-ABF6-F12054C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SYSTEM BUILT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1" name="Google Shape;171;p22">
            <a:extLst xmlns:a="http://schemas.openxmlformats.org/drawingml/2006/main">
              <a:ext uri="{FF2B5EF4-FFF2-40B4-BE49-F238E27FC236}">
                <a16:creationId xmlns:a16="http://schemas.microsoft.com/office/drawing/2014/main" id="{6F9E06D7-1163-47C2-9078-365E76DA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1614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Docker + GKE + GCS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2" name="Google Shape;172;p22">
            <a:extLst xmlns:a="http://schemas.openxmlformats.org/drawingml/2006/main">
              <a:ext uri="{FF2B5EF4-FFF2-40B4-BE49-F238E27FC236}">
                <a16:creationId xmlns:a16="http://schemas.microsoft.com/office/drawing/2014/main" id="{FA9A24BF-AF56-4F9D-814D-FF44C211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CPU · A100 · TPU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3" name="Google Shape;173;p22">
            <a:extLst xmlns:a="http://schemas.openxmlformats.org/drawingml/2006/main">
              <a:ext uri="{FF2B5EF4-FFF2-40B4-BE49-F238E27FC236}">
                <a16:creationId xmlns:a16="http://schemas.microsoft.com/office/drawing/2014/main" id="{1DAD7569-9E47-49D6-ACBD-FD6C900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MODEL LESSON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4" name="Google Shape;174;p22">
            <a:extLst xmlns:a="http://schemas.openxmlformats.org/drawingml/2006/main">
              <a:ext uri="{FF2B5EF4-FFF2-40B4-BE49-F238E27FC236}">
                <a16:creationId xmlns:a16="http://schemas.microsoft.com/office/drawing/2014/main" id="{4811BDB5-E490-4CB3-BD80-CAF8AA0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0366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27B shows promise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5" name="Google Shape;175;p22">
            <a:extLst xmlns:a="http://schemas.openxmlformats.org/drawingml/2006/main">
              <a:ext uri="{FF2B5EF4-FFF2-40B4-BE49-F238E27FC236}">
                <a16:creationId xmlns:a16="http://schemas.microsoft.com/office/drawing/2014/main" id="{F1B038B4-1E62-40F2-AC4F-BAC0669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4B fails quality bar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6" name="Google Shape;176;p22">
            <a:extLst xmlns:a="http://schemas.openxmlformats.org/drawingml/2006/main">
              <a:ext uri="{FF2B5EF4-FFF2-40B4-BE49-F238E27FC236}">
                <a16:creationId xmlns:a16="http://schemas.microsoft.com/office/drawing/2014/main" id="{B889A1C2-1CC1-42CB-A302-58CA7432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OPERATING TARGET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7" name="Google Shape;177;p22">
            <a:extLst xmlns:a="http://schemas.openxmlformats.org/drawingml/2006/main">
              <a:ext uri="{FF2B5EF4-FFF2-40B4-BE49-F238E27FC236}">
                <a16:creationId xmlns:a16="http://schemas.microsoft.com/office/drawing/2014/main" id="{73201AD2-B8AA-47B9-B1F9-18EF61B2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≤24 h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8" name="Google Shape;178;p22">
            <a:extLst xmlns:a="http://schemas.openxmlformats.org/drawingml/2006/main">
              <a:ext uri="{FF2B5EF4-FFF2-40B4-BE49-F238E27FC236}">
                <a16:creationId xmlns:a16="http://schemas.microsoft.com/office/drawing/2014/main" id="{7A9761BB-FCBA-410F-90B5-795B05F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 h would be delightful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9" name="Google Shape;179;p22">
            <a:extLst xmlns:a="http://schemas.openxmlformats.org/drawingml/2006/main">
              <a:ext uri="{FF2B5EF4-FFF2-40B4-BE49-F238E27FC236}">
                <a16:creationId xmlns:a16="http://schemas.microsoft.com/office/drawing/2014/main" id="{B1EAA525-AC95-4EE2-8D4E-2599A190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924800" cy="876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0">
            <a:solidFill>
              <a:srgbClr val="EAF4ED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2">
            <a:extLst xmlns:a="http://schemas.openxmlformats.org/drawingml/2006/main">
              <a:ext uri="{FF2B5EF4-FFF2-40B4-BE49-F238E27FC236}">
                <a16:creationId xmlns:a16="http://schemas.microsoft.com/office/drawing/2014/main" id="{34E2EB03-1AD9-4A0F-BC97-9CC270C3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Meet the grading-quality threshold → choose the smallest system under 24 hours → minimize cost.</a:t>
            </a:r>
            <a:endParaRPr sz="1450">
              <a:solidFill>
                <a:srgbClr val="26342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1" name="Google Shape;181;p22">
            <a:extLst xmlns:a="http://schemas.openxmlformats.org/drawingml/2006/main">
              <a:ext uri="{FF2B5EF4-FFF2-40B4-BE49-F238E27FC236}">
                <a16:creationId xmlns:a16="http://schemas.microsoft.com/office/drawing/2014/main" id="{F920A161-77A5-421A-86A9-3F78514A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BOTTLENECK</a:t>
            </a:r>
            <a:endParaRPr sz="13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2" name="Google Shape;182;p22">
            <a:extLst xmlns:a="http://schemas.openxmlformats.org/drawingml/2006/main">
              <a:ext uri="{FF2B5EF4-FFF2-40B4-BE49-F238E27FC236}">
                <a16:creationId xmlns:a16="http://schemas.microsoft.com/office/drawing/2014/main" id="{A7110F71-5144-401F-A010-DC1700AA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27B serving was unbatched; training also exposed accelerator-memory and object-store startup pressure.</a:t>
            </a:r>
            <a:endParaRPr sz="1150">
              <a:solidFill>
                <a:srgbClr val="3F4B44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3" name="Google Shape;183;p22">
            <a:extLst xmlns:a="http://schemas.openxmlformats.org/drawingml/2006/main">
              <a:ext uri="{FF2B5EF4-FFF2-40B4-BE49-F238E27FC236}">
                <a16:creationId xmlns:a16="http://schemas.microsoft.com/office/drawing/2014/main" id="{AE935E91-B943-4CA5-9237-A0517C8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719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3810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23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23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NEXT · batch the 27B endpoint; profile 27B on TPU; test leave-one-question-out transfer; compare per-assignment training economics with frontier inference; add runners only when queue depth threatens the 24-hour promise.</a:t>
            </a:r>
            <a:endParaRPr sz="750">
              <a:solidFill>
                <a:srgbClr val="737D87"/>
              </a:solidFill>
              <a:latin typeface="Manrope"/>
              <a:ea typeface="Manrope"/>
              <a:cs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